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32e5c3783f4211" /><Relationship Type="http://schemas.openxmlformats.org/officeDocument/2006/relationships/extended-properties" Target="/docProps/app.xml" Id="R2a21130a23cd4682" /><Relationship Type="http://schemas.openxmlformats.org/officeDocument/2006/relationships/officeDocument" Target="/ppt/presentation.xml" Id="R7e99aff4ff4e43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d5d4d360884795"/>
  </p:sldMasterIdLst>
  <p:notesMasterIdLst>
    <p:notesMasterId xmlns:r="http://schemas.openxmlformats.org/officeDocument/2006/relationships" r:id="R8dc09514d975438d"/>
  </p:notesMasterIdLst>
  <p:sldIdLst>
    <p:sldId xmlns:r="http://schemas.openxmlformats.org/officeDocument/2006/relationships" id="256" r:id="R9e00fa08ddf64924"/>
    <p:sldId xmlns:r="http://schemas.openxmlformats.org/officeDocument/2006/relationships" id="257" r:id="R9698d9e9876a411b"/>
    <p:sldId xmlns:r="http://schemas.openxmlformats.org/officeDocument/2006/relationships" id="258" r:id="Re43f1e501f594cbe"/>
    <p:sldId xmlns:r="http://schemas.openxmlformats.org/officeDocument/2006/relationships" id="259" r:id="Rd12b5a442ac54ca4"/>
    <p:sldId xmlns:r="http://schemas.openxmlformats.org/officeDocument/2006/relationships" id="260" r:id="R3f3a2f1238e74175"/>
    <p:sldId xmlns:r="http://schemas.openxmlformats.org/officeDocument/2006/relationships" id="261" r:id="R36807e917e474085"/>
    <p:sldId xmlns:r="http://schemas.openxmlformats.org/officeDocument/2006/relationships" id="262" r:id="R29a00ccf1e074778"/>
    <p:sldId xmlns:r="http://schemas.openxmlformats.org/officeDocument/2006/relationships" id="263" r:id="R5c3c06c6e15f4508"/>
    <p:sldId xmlns:r="http://schemas.openxmlformats.org/officeDocument/2006/relationships" id="264" r:id="R4b922688d13542ad"/>
    <p:sldId xmlns:r="http://schemas.openxmlformats.org/officeDocument/2006/relationships" id="265" r:id="R9b3c930b9ff140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e7d612da4d48d9" /><Relationship Type="http://schemas.openxmlformats.org/officeDocument/2006/relationships/slideMaster" Target="/ppt/slideMasters/slideMaster1.xml" Id="R07d5d4d360884795" /><Relationship Type="http://schemas.openxmlformats.org/officeDocument/2006/relationships/notesMaster" Target="/ppt/notesMasters/notesMaster1.xml" Id="R8dc09514d975438d" /><Relationship Type="http://schemas.openxmlformats.org/officeDocument/2006/relationships/presProps" Target="/ppt/presProps.xml" Id="R5273350c344242a8" /><Relationship Type="http://schemas.openxmlformats.org/officeDocument/2006/relationships/tableStyles" Target="/ppt/tableStyles.xml" Id="Re27be4108e144665" /><Relationship Type="http://schemas.openxmlformats.org/officeDocument/2006/relationships/slide" Target="/ppt/slides/slide1.xml" Id="R9e00fa08ddf64924" /><Relationship Type="http://schemas.openxmlformats.org/officeDocument/2006/relationships/slide" Target="/ppt/slides/slide2.xml" Id="R9698d9e9876a411b" /><Relationship Type="http://schemas.openxmlformats.org/officeDocument/2006/relationships/slide" Target="/ppt/slides/slide3.xml" Id="Re43f1e501f594cbe" /><Relationship Type="http://schemas.openxmlformats.org/officeDocument/2006/relationships/slide" Target="/ppt/slides/slide4.xml" Id="Rd12b5a442ac54ca4" /><Relationship Type="http://schemas.openxmlformats.org/officeDocument/2006/relationships/slide" Target="/ppt/slides/slide5.xml" Id="R3f3a2f1238e74175" /><Relationship Type="http://schemas.openxmlformats.org/officeDocument/2006/relationships/slide" Target="/ppt/slides/slide6.xml" Id="R36807e917e474085" /><Relationship Type="http://schemas.openxmlformats.org/officeDocument/2006/relationships/slide" Target="/ppt/slides/slide7.xml" Id="R29a00ccf1e074778" /><Relationship Type="http://schemas.openxmlformats.org/officeDocument/2006/relationships/slide" Target="/ppt/slides/slide8.xml" Id="R5c3c06c6e15f4508" /><Relationship Type="http://schemas.openxmlformats.org/officeDocument/2006/relationships/slide" Target="/ppt/slides/slide9.xml" Id="R4b922688d13542ad" /><Relationship Type="http://schemas.openxmlformats.org/officeDocument/2006/relationships/slide" Target="/ppt/slides/slide10.xml" Id="R9b3c930b9ff140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f9ad9931544d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tenea Grupo Educativo">
      <a:majorFont>
        <a:latin typeface="Merriweather"/>
        <a:ea typeface="Calibri Light"/>
        <a:cs typeface="Calibri Light"/>
      </a:majorFont>
      <a:minorFont>
        <a:latin typeface="Inter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2f88d10e56415f" /><Relationship Type="http://schemas.openxmlformats.org/officeDocument/2006/relationships/notesMaster" Target="/ppt/notesMasters/notesMaster1.xml" Id="R3e04618f3fff4d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d50d6b2387488d" /><Relationship Type="http://schemas.openxmlformats.org/officeDocument/2006/relationships/notesMaster" Target="/ppt/notesMasters/notesMaster1.xml" Id="Rf8e7d27cfc524c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5268f5a2214ca8" /><Relationship Type="http://schemas.openxmlformats.org/officeDocument/2006/relationships/notesMaster" Target="/ppt/notesMasters/notesMaster1.xml" Id="Rd1014eaa9c9d42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b85101656e406a" /><Relationship Type="http://schemas.openxmlformats.org/officeDocument/2006/relationships/notesMaster" Target="/ppt/notesMasters/notesMaster1.xml" Id="Rc4079c729c6c4e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e4efefcdc8448c" /><Relationship Type="http://schemas.openxmlformats.org/officeDocument/2006/relationships/notesMaster" Target="/ppt/notesMasters/notesMaster1.xml" Id="R8a6bdf945b1f4d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dffb91f8ed48be" /><Relationship Type="http://schemas.openxmlformats.org/officeDocument/2006/relationships/notesMaster" Target="/ppt/notesMasters/notesMaster1.xml" Id="R5c9d0817eb1745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c1ffc06d2d405c" /><Relationship Type="http://schemas.openxmlformats.org/officeDocument/2006/relationships/notesMaster" Target="/ppt/notesMasters/notesMaster1.xml" Id="Reb49cf6bdf4d40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2646b94c954bbd" /><Relationship Type="http://schemas.openxmlformats.org/officeDocument/2006/relationships/notesMaster" Target="/ppt/notesMasters/notesMaster1.xml" Id="R46bd067cfcdd49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71e61efcea4bca" /><Relationship Type="http://schemas.openxmlformats.org/officeDocument/2006/relationships/notesMaster" Target="/ppt/notesMasters/notesMaster1.xml" Id="R1b2aaa0d3a6c41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c64e2f4816402d" /><Relationship Type="http://schemas.openxmlformats.org/officeDocument/2006/relationships/notesMaster" Target="/ppt/notesMasters/notesMaster1.xml" Id="Re96ec4f8fd474e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desde la experiencia compartida: todas y todos planificamos, y todos conocemos el desgaste de repetir la misma información.</a:t>
            </a:r>
          </a:p>
          <a:p xmlns:a="http://schemas.openxmlformats.org/drawingml/2006/main">
            <a:r>
              <a:t>Presentar la propuesta como una conversación de mejora interna, no como un formato impuesto ni como una exigencia externa.</a:t>
            </a:r>
          </a:p>
          <a:p xmlns:a="http://schemas.openxmlformats.org/drawingml/2006/main">
            <a:r>
              <a:t>Aclarar que el objetivo de la jornada es acordar un piloto pequeño y revisable.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Antes de mostrar esta lámina, pedir una estimación rápida: ¿cuántas horas dedica cada docente a pasar la misma planificación a distintos formatos?</a:t>
            </a:r>
          </a:p>
          <a:p xmlns:a="http://schemas.openxmlformats.org/drawingml/2006/main">
            <a:r>
              <a:t>Registrar una cifra aproximada de la IE en el espacio en blanco. No presentar un dato externo como si fuera local.</a:t>
            </a:r>
          </a:p>
          <a:p xmlns:a="http://schemas.openxmlformats.org/drawingml/2006/main">
            <a:r>
              <a:t>La intención no es cuestionar el compromiso docente; es hacer visible una carga administrativa repetida.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lámina cita el CNEB como fuente pública; no implica aval ni colaboración del MINEDU.</a:t>
            </a:r>
          </a:p>
          <a:p xmlns:a="http://schemas.openxmlformats.org/drawingml/2006/main">
            <a:r>
              <a:t>Subrayar que la propuesta conserva la cadena curricular y cambia únicamente la forma interna de organizar el trabajo.</a:t>
            </a:r>
          </a:p>
          <a:p xmlns:a="http://schemas.openxmlformats.org/drawingml/2006/main">
            <a:r>
              <a:t>Evitar convertir la conversación en una discusión sobre quién llenó bien o mal una plantilla.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la cadena de izquierda a derecha y pedir ejemplos breves del área o grado de quienes participan.</a:t>
            </a:r>
          </a:p>
          <a:p xmlns:a="http://schemas.openxmlformats.org/drawingml/2006/main">
            <a:r>
              <a:t>Distinguir estándar de ciclo y desempeño de grado antes de continuar.</a:t>
            </a:r>
          </a:p>
          <a:p xmlns:a="http://schemas.openxmlformats.org/drawingml/2006/main">
            <a:r>
              <a:t>La actividad se diseña al final porque responde a una evidencia definida, no al revés.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planeador maestro no reemplaza el juicio docente: lo concentra en un solo lugar.</a:t>
            </a:r>
          </a:p>
          <a:p xmlns:a="http://schemas.openxmlformats.org/drawingml/2006/main">
            <a:r>
              <a:t>Cada vista conserva el mismo propósito, desempeño, evidencia y criterios; solo cambia el nivel de detalle requerido.</a:t>
            </a:r>
          </a:p>
          <a:p xmlns:a="http://schemas.openxmlformats.org/drawingml/2006/main">
            <a:r>
              <a:t>La propuesta busca eliminar la triple digitación, no eliminar los documentos que la IE necesita.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Llevar la conversación del ahorro de tiempo al impacto pedagógico: el beneficio principal es la coherencia que vive el estudiante.</a:t>
            </a:r>
          </a:p>
          <a:p xmlns:a="http://schemas.openxmlformats.org/drawingml/2006/main">
            <a:r>
              <a:t>Relacionar los tres elementos con evaluación formativa: criterios previos, evidencia planificada y retroalimentación.</a:t>
            </a:r>
          </a:p>
          <a:p xmlns:a="http://schemas.openxmlformats.org/drawingml/2006/main">
            <a:r>
              <a:t>La referencia a la Sección VII identifica la fuente pública; no implica aval del MINEDU.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Enfatizar que la trazabilidad sirve para acompañar, no para vigilar.</a:t>
            </a:r>
          </a:p>
          <a:p xmlns:a="http://schemas.openxmlformats.org/drawingml/2006/main">
            <a:r>
              <a:t>La IE conserva sus acuerdos y puede revisar la coherencia sin pedir nuevas transcripciones.</a:t>
            </a:r>
          </a:p>
          <a:p xmlns:a="http://schemas.openxmlformats.org/drawingml/2006/main">
            <a:r>
              <a:t>Invitar al equipo directivo a identificar qué revisiones actuales podrían simplificarse con una sola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Diferenciar ahorro operativo y autonomía profesional: el método reduce búsqueda y repetición, pero deja la decisión en manos del docente.</a:t>
            </a:r>
          </a:p>
          <a:p xmlns:a="http://schemas.openxmlformats.org/drawingml/2006/main">
            <a:r>
              <a:t>El banco debe usarse con su referencia exacta al documento oficial y el grado correspondiente.</a:t>
            </a:r>
          </a:p>
          <a:p xmlns:a="http://schemas.openxmlformats.org/drawingml/2006/main">
            <a:r>
              <a:t>Pedir al grupo que nombre una decisión pedagógica a la que dedicaría el tiempo recuperado.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Proponer un alcance pequeño: un grado, un área y un periodo. El piloto debe generar evidencia antes de ampliar el cambio.</a:t>
            </a:r>
          </a:p>
          <a:p xmlns:a="http://schemas.openxmlformats.org/drawingml/2006/main">
            <a:r>
              <a:t>Acordar desde el inicio cómo se usará el cotejo P4.2 y la rúbrica P4.3 para revisar calidad y coherencia.</a:t>
            </a:r>
          </a:p>
          <a:p xmlns:a="http://schemas.openxmlformats.org/drawingml/2006/main">
            <a:r>
              <a:t>Registrar aprendizajes del piloto: qué se simplificó, qué debe ajustarse y qué conviene conservar.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regresando a la idea central: el currículo exige coherencia en la cadena, no repetición de carpetas.</a:t>
            </a:r>
          </a:p>
          <a:p xmlns:a="http://schemas.openxmlformats.org/drawingml/2006/main">
            <a:r>
              <a:t>Completar en la jornada el grado, el área, las personas responsables y la fecha de revisión.</a:t>
            </a:r>
          </a:p>
          <a:p xmlns:a="http://schemas.openxmlformats.org/drawingml/2006/main">
            <a:r>
              <a:t>Confirmar que el piloto es una prueba institucional interna y que será revisado antes de cualquier ampliación.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c481377c34b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50310a95074659" /><Relationship Type="http://schemas.openxmlformats.org/officeDocument/2006/relationships/slideLayout" Target="/ppt/slideLayouts/slideLayout1.xml" Id="Rd1ce852ee2734e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ce852ee2734e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tenea Grupo Educativo">
      <a:majorFont>
        <a:latin typeface="Merriweather"/>
        <a:ea typeface="Calibri Light"/>
        <a:cs typeface="Calibri Light"/>
      </a:majorFont>
      <a:minorFont>
        <a:latin typeface="Inter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1f07e053f4811" /><Relationship Type="http://schemas.openxmlformats.org/officeDocument/2006/relationships/image" Target="/ppt/media/image.png" Id="R42a28611a45549fb" /><Relationship Type="http://schemas.openxmlformats.org/officeDocument/2006/relationships/notesSlide" Target="/ppt/notesSlides/notesSlide1.xml" Id="R2bc8f29fbc164f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aba214052465c" /><Relationship Type="http://schemas.openxmlformats.org/officeDocument/2006/relationships/image" Target="/ppt/media/image2.png" Id="R9c7210d68dfb40b2" /><Relationship Type="http://schemas.openxmlformats.org/officeDocument/2006/relationships/notesSlide" Target="/ppt/notesSlides/notesSlide2.xml" Id="R7274426efe3645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10c12dffb4b9a" /><Relationship Type="http://schemas.openxmlformats.org/officeDocument/2006/relationships/image" Target="/ppt/media/image3.png" Id="Rc9739f53949e4b25" /><Relationship Type="http://schemas.openxmlformats.org/officeDocument/2006/relationships/notesSlide" Target="/ppt/notesSlides/notesSlide3.xml" Id="R51e70a5bf76848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a07697fac4998" /><Relationship Type="http://schemas.openxmlformats.org/officeDocument/2006/relationships/image" Target="/ppt/media/image4.png" Id="R5700ebf3d9824162" /><Relationship Type="http://schemas.openxmlformats.org/officeDocument/2006/relationships/notesSlide" Target="/ppt/notesSlides/notesSlide4.xml" Id="Ra25d85ba1d8540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9564d85d14279" /><Relationship Type="http://schemas.openxmlformats.org/officeDocument/2006/relationships/image" Target="/ppt/media/image5.png" Id="R395f3cc963d145b5" /><Relationship Type="http://schemas.openxmlformats.org/officeDocument/2006/relationships/notesSlide" Target="/ppt/notesSlides/notesSlide5.xml" Id="Rf97c54e5e84347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24edfc7404f1c" /><Relationship Type="http://schemas.openxmlformats.org/officeDocument/2006/relationships/image" Target="/ppt/media/image6.png" Id="R3e32aa1b91554fc2" /><Relationship Type="http://schemas.openxmlformats.org/officeDocument/2006/relationships/notesSlide" Target="/ppt/notesSlides/notesSlide6.xml" Id="R14fa85d5161447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3467849a94b04" /><Relationship Type="http://schemas.openxmlformats.org/officeDocument/2006/relationships/image" Target="/ppt/media/image7.png" Id="R86e9d6a2225b4cc1" /><Relationship Type="http://schemas.openxmlformats.org/officeDocument/2006/relationships/notesSlide" Target="/ppt/notesSlides/notesSlide7.xml" Id="R88184310052f49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640495611413b" /><Relationship Type="http://schemas.openxmlformats.org/officeDocument/2006/relationships/image" Target="/ppt/media/image8.png" Id="Rb571521c0d34482b" /><Relationship Type="http://schemas.openxmlformats.org/officeDocument/2006/relationships/notesSlide" Target="/ppt/notesSlides/notesSlide8.xml" Id="R93a84470cace45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a663965e24dbf" /><Relationship Type="http://schemas.openxmlformats.org/officeDocument/2006/relationships/image" Target="/ppt/media/image9.png" Id="R95ba90f7abd948f8" /><Relationship Type="http://schemas.openxmlformats.org/officeDocument/2006/relationships/notesSlide" Target="/ppt/notesSlides/notesSlide9.xml" Id="R9f178d4f1f8d49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47f13daa0410f" /><Relationship Type="http://schemas.openxmlformats.org/officeDocument/2006/relationships/image" Target="/ppt/media/image10.png" Id="R6ec9437380314a8b" /><Relationship Type="http://schemas.openxmlformats.org/officeDocument/2006/relationships/notesSlide" Target="/ppt/notesSlides/notesSlide10.xml" Id="Rc78bed2c66b043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68D3EA-5B8D-4786-A290-EA4FA104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0DD62-ADC5-4262-A2F8-8EB6E00B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3149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B30D3-FCC5-4EB3-9495-1A8B7006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7435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30520-5E8D-4B6E-9312-4734C8FA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86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28611a45549fb"/>
          <a:stretch xmlns:a="http://schemas.openxmlformats.org/drawingml/2006/main"/>
        </p:blipFill>
        <p:spPr>
          <a:xfrm xmlns:a="http://schemas.openxmlformats.org/drawingml/2006/main">
            <a:off x="1358900" y="628650"/>
            <a:ext cx="1930400" cy="723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C8D7A-E7E4-4060-A228-7A2F204F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AF37"/>
                </a:solidFill>
              </a:defRPr>
            </a:pPr>
            <a:r>
              <a:rPr sz="1125" b="1">
                <a:solidFill>
                  <a:srgbClr val="D4AF37"/>
                </a:solidFill>
              </a:rPr>
              <a:t>JORNADA DE REFLEXIÓN · PROPUESTA ENTRE COLEGAS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13DAD-9465-4480-8C70-338C3EE7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Planificar una vez,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entregar tres formatos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D49EB-4C08-493F-877B-D6DE3912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4AF37"/>
                </a:solidFill>
              </a:defRPr>
            </a:pPr>
            <a:r>
              <a:rPr sz="1875" b="1">
                <a:solidFill>
                  <a:srgbClr val="D4AF37"/>
                </a:solidFill>
              </a:rPr>
              <a:t>Una propuesta para nuestra 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01A02-1A2F-45AD-A434-98EAA673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8305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44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073B3-D4FD-4DF1-B5E0-3D59AF1A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53025"/>
            <a:ext cx="769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Institución: ____     ·     Presenta: ____     ·     Fecha: 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02257-B1DF-4734-AC36-9826F8AB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E2EC"/>
                </a:solidFill>
              </a:defRPr>
            </a:pPr>
            <a:r>
              <a:rPr sz="825" b="1">
                <a:solidFill>
                  <a:srgbClr val="D9E2EC"/>
                </a:solidFill>
              </a:rPr>
              <a:t>KIT PLANIFIKIA PERÚ · CNEB</a:t>
            </a:r>
          </a:p>
        </p:txBody>
      </p:sp>
    </p:spTree>
    <p:extLst>
      <p:ext uri="{BB962C8B-B14F-4D97-AF65-F5344CB8AC3E}">
        <p14:creationId xmlns:p14="http://schemas.microsoft.com/office/powerpoint/2010/main" val="4892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75BCE1-FC9D-4A56-8448-70E49AB6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3A195-28A1-4493-9DB9-EBF6183F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PUNTO DE PARTIDA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1D43D-9708-41FE-A002-E8F5176B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¿Cuánto tiempo perdemos en triple digitación?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210d68dfb40b2"/>
          <a:stretch xmlns:a="http://schemas.openxmlformats.org/drawingml/2006/main"/>
        </p:blipFill>
        <p:spPr>
          <a:xfrm xmlns:a="http://schemas.openxmlformats.org/drawingml/2006/main">
            <a:off x="10001250" y="247650"/>
            <a:ext cx="137160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31ABF-60B9-41C7-963F-3BFB60B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00A28-2CFD-4286-8866-A734953A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1A365D"/>
                </a:solidFill>
              </a:defRPr>
            </a:pPr>
            <a:r>
              <a:rPr sz="713" b="1">
                <a:solidFill>
                  <a:srgbClr val="1A365D"/>
                </a:solidFill>
              </a:rPr>
              <a:t>ATENEA GRUPO EDUCATIVO · KIT PLANIFIKIA PERÚ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67282-0461-49FB-985E-CBAA4357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57487"/>
                </a:solidFill>
              </a:defRPr>
            </a:pPr>
            <a:r>
              <a:rPr sz="788" b="1">
                <a:solidFill>
                  <a:srgbClr val="657487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AE3B9-2539-4FB9-B3EB-7CB3504F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55295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15D3C-CBC4-4388-A093-E34743DC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3867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D4AF37"/>
                </a:solidFill>
              </a:defRPr>
            </a:pPr>
            <a:r>
              <a:rPr sz="5400" b="1">
                <a:solidFill>
                  <a:srgbClr val="D4AF37"/>
                </a:solidFill>
              </a:rPr>
              <a:t>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1D28B-324B-4A37-A684-1AD449FA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HORAS POR SEMANA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ED6FC-54BC-4B6C-A907-F53560B6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57625"/>
            <a:ext cx="3867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D9E2EC"/>
                </a:solidFill>
              </a:defRPr>
            </a:pPr>
            <a:r>
              <a:rPr sz="1350">
                <a:solidFill>
                  <a:srgbClr val="D9E2EC"/>
                </a:solidFill>
              </a:rPr>
              <a:t>Dato de nuestra 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89EC9-EC17-46D0-BE23-398CE512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71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82CC9-B3BB-40FA-ACDC-5AE288CA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72025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05A47"/>
                </a:solidFill>
              </a:defRPr>
            </a:pPr>
            <a:r>
              <a:rPr sz="1200" b="1">
                <a:solidFill>
                  <a:srgbClr val="E05A47"/>
                </a:solidFill>
              </a:rPr>
              <a:t>Completar durante la jornada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6EADE-32B8-4015-8438-88C3325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669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A365D"/>
                </a:solidFill>
              </a:defRPr>
            </a:pPr>
            <a:r>
              <a:rPr sz="2100" b="1">
                <a:solidFill>
                  <a:srgbClr val="1A365D"/>
                </a:solidFill>
              </a:rPr>
              <a:t>¿Dónde se repite el trabajo?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2A861-A3DB-4510-8C2D-E625155B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3877A-EA06-4016-B5D2-588A7FA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955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198D5-2603-4240-B9AD-513B5D87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247"/>
                </a:solidFill>
              </a:defRPr>
            </a:pPr>
            <a:r>
              <a:rPr sz="1500" b="0">
                <a:solidFill>
                  <a:srgbClr val="243247"/>
                </a:solidFill>
              </a:rPr>
              <a:t>La misma competencia y el mismo desempeño se vuelven a escribir.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1C01C-9097-4DB2-A260-0DC8D535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CBE8DF-98C4-425D-AC6C-B8293EDA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671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F3B692-FB6E-4F0F-88D9-BFE8B361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4330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247"/>
                </a:solidFill>
              </a:defRPr>
            </a:pPr>
            <a:r>
              <a:rPr sz="1500" b="1">
                <a:solidFill>
                  <a:srgbClr val="243247"/>
                </a:solidFill>
              </a:rPr>
              <a:t>La evidencia cambia de nombre entre unidad, sesión y experiencia.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AC5FC-E30B-4CAF-8BEA-3F0366F3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33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8BAAD-37EB-4690-9758-1FA6C8FF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386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6D92D-2269-4946-BA81-5D6921FE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1485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247"/>
                </a:solidFill>
              </a:defRPr>
            </a:pPr>
            <a:r>
              <a:rPr sz="1500" b="0">
                <a:solidFill>
                  <a:srgbClr val="243247"/>
                </a:solidFill>
              </a:rPr>
              <a:t>Cada ajuste obliga a corregir tres documentos por separado.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DC8E65-2693-4C1A-A00F-882965A9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05450"/>
            <a:ext cx="5257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34657D-5114-4F9B-B4F9-6A936DCF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769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05A47"/>
                </a:solidFill>
              </a:defRPr>
            </a:pPr>
            <a:r>
              <a:rPr sz="1350" b="1">
                <a:solidFill>
                  <a:srgbClr val="E05A47"/>
                </a:solidFill>
              </a:rPr>
              <a:t>Traigamos el dato real antes de proponer el cambio.</a:t>
            </a:r>
          </a:p>
        </p:txBody>
      </p:sp>
    </p:spTree>
    <p:extLst>
      <p:ext uri="{BB962C8B-B14F-4D97-AF65-F5344CB8AC3E}">
        <p14:creationId xmlns:p14="http://schemas.microsoft.com/office/powerpoint/2010/main" val="405900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9D8802-E337-4627-84EB-943C4FCF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58444-98DD-457D-BF40-6625B6F5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MARCO COMÚN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828AA-9983-44E4-9B96-0A99F94E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El CNEB orienta la cadena; no impone una carpeta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39f53949e4b25"/>
          <a:stretch xmlns:a="http://schemas.openxmlformats.org/drawingml/2006/main"/>
        </p:blipFill>
        <p:spPr>
          <a:xfrm xmlns:a="http://schemas.openxmlformats.org/drawingml/2006/main">
            <a:off x="10001250" y="247650"/>
            <a:ext cx="137160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67677-7521-4BD5-AF20-A1E2E2C5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E5B5B-7CB1-413B-B3FB-631C66E0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657487"/>
                </a:solidFill>
              </a:defRPr>
            </a:pPr>
            <a:r>
              <a:rPr sz="713" b="1">
                <a:solidFill>
                  <a:srgbClr val="657487"/>
                </a:solidFill>
              </a:rPr>
              <a:t>Fuente pública: Currículo Nacional de la Educación Básica · minedu.gob.pe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C7960-858B-4AFE-999D-F55D5661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57487"/>
                </a:solidFill>
              </a:defRPr>
            </a:pPr>
            <a:r>
              <a:rPr sz="788" b="1">
                <a:solidFill>
                  <a:srgbClr val="657487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A4D25-6D15-4931-BF84-27E0D503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F8D51-6EB2-455B-A5C8-5C1B4E70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1013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4AF37"/>
                </a:solidFill>
              </a:defRPr>
            </a:pPr>
            <a:r>
              <a:rPr sz="2400" b="1">
                <a:solidFill>
                  <a:srgbClr val="D4AF37"/>
                </a:solidFill>
              </a:rPr>
              <a:t>Flexible · abierto · diversificado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065EA-E915-49EE-BBBF-CD3214F1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El currículo ofrece orientaciones para tomar decisiones en contexto.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2B5C2-4D32-4CB9-A9E4-0C6F6034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2959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BF4DD"/>
          </a:solidFill>
          <a:ln xmlns:a="http://schemas.openxmlformats.org/drawingml/2006/main" w="14288">
            <a:solidFill>
              <a:srgbClr val="D4AF3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1D7C2-84AA-4B7E-BDE2-334EBDA3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AF37"/>
                </a:solidFill>
              </a:defRPr>
            </a:pPr>
            <a:r>
              <a:rPr sz="1125" b="1">
                <a:solidFill>
                  <a:srgbClr val="D4AF37"/>
                </a:solidFill>
              </a:rPr>
              <a:t>SÍ ORIENTA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D1F8B-EF30-4A6D-BD8A-B620EF1E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Competencias, capacidades, estándares y desempeños.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0C875-161C-4C2B-A882-A116B638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62350"/>
            <a:ext cx="52959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BE9E5"/>
          </a:solidFill>
          <a:ln xmlns:a="http://schemas.openxmlformats.org/drawingml/2006/main" w="14288">
            <a:solidFill>
              <a:srgbClr val="E05A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DC0EA-9932-468F-ACD2-D98D285F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05A47"/>
                </a:solidFill>
              </a:defRPr>
            </a:pPr>
            <a:r>
              <a:rPr sz="1125" b="1">
                <a:solidFill>
                  <a:srgbClr val="E05A47"/>
                </a:solidFill>
              </a:rPr>
              <a:t>NO PRESCRIBE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3BEE1-B76F-4FE7-90E3-2643D588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Una plantilla única para unidad, sesión o experiencia.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63E2F-947D-42A3-B50F-0A51C6EF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43550"/>
            <a:ext cx="8343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2204B8-F9D6-4544-9B0C-0FF432CF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86425"/>
            <a:ext cx="777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Podemos mejorar el formato sin alterar el currículo.</a:t>
            </a:r>
          </a:p>
        </p:txBody>
      </p:sp>
    </p:spTree>
    <p:extLst>
      <p:ext uri="{BB962C8B-B14F-4D97-AF65-F5344CB8AC3E}">
        <p14:creationId xmlns:p14="http://schemas.microsoft.com/office/powerpoint/2010/main" val="850622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312949-5107-40EB-8ABF-C7424BA9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58687-B32C-47B9-AC3B-754F9310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LA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81D4A-F585-4B49-B1C7-60186E49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Esto es lo que sí nos pide el currículo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0ebf3d9824162"/>
          <a:stretch xmlns:a="http://schemas.openxmlformats.org/drawingml/2006/main"/>
        </p:blipFill>
        <p:spPr>
          <a:xfrm xmlns:a="http://schemas.openxmlformats.org/drawingml/2006/main">
            <a:off x="10001250" y="247650"/>
            <a:ext cx="137160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A9C43-9505-4F85-BC15-5E6CCD4B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5D7ED-9955-443B-AC84-7D53E8C9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657487"/>
                </a:solidFill>
              </a:defRPr>
            </a:pPr>
            <a:r>
              <a:rPr sz="713" b="1">
                <a:solidFill>
                  <a:srgbClr val="657487"/>
                </a:solidFill>
              </a:rPr>
              <a:t>Referencia: CNEB · minedu.gob.pe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9EE98-1599-4F2F-9120-C174770C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57487"/>
                </a:solidFill>
              </a:defRPr>
            </a:pPr>
            <a:r>
              <a:rPr sz="788" b="1">
                <a:solidFill>
                  <a:srgbClr val="657487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B74EC-1D7F-4E20-9271-70637E16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162300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E24BE-68F5-4E98-988C-BA8E52B4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162300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2689E-1482-40E6-B1BE-A40AF8DE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62300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5014D-8319-4926-836E-0F380B77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162300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60057-FF27-4BC8-93F9-2F36D3C1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50094-9BA4-4ACB-9B2F-012A2CAE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409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19050">
            <a:solidFill>
              <a:srgbClr val="1A36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E9BA0-2D00-4B2C-ABB4-8828ECCA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A365D"/>
                </a:solidFill>
              </a:defRPr>
            </a:pPr>
            <a:r>
              <a:rPr sz="1088" b="1">
                <a:solidFill>
                  <a:srgbClr val="1A365D"/>
                </a:solidFill>
              </a:rPr>
              <a:t>COMPETENCIA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4AB06-EE94-438E-9BE7-93024DE6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365D"/>
                </a:solidFill>
              </a:defRPr>
            </a:pPr>
            <a:r>
              <a:rPr sz="1200" b="1">
                <a:solidFill>
                  <a:srgbClr val="1A365D"/>
                </a:solidFill>
              </a:rPr>
              <a:t>Propósito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E1D3A-2A1B-428F-A0B3-6299D0C6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71750"/>
            <a:ext cx="1409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AF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72FDE-A478-465F-8B79-DC5D35F0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194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D4AF37"/>
                </a:solidFill>
              </a:defRPr>
            </a:pPr>
            <a:r>
              <a:rPr sz="1088" b="1">
                <a:solidFill>
                  <a:srgbClr val="D4AF37"/>
                </a:solidFill>
              </a:rPr>
              <a:t>CAPACIDADES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4E8A74-1C40-41D5-B206-82416AD9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14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365D"/>
                </a:solidFill>
              </a:defRPr>
            </a:pPr>
            <a:r>
              <a:rPr sz="1200" b="1">
                <a:solidFill>
                  <a:srgbClr val="1A365D"/>
                </a:solidFill>
              </a:rPr>
              <a:t>Recursos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43BFD-28D4-4100-A7F1-BE0ADD7A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409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19050">
            <a:solidFill>
              <a:srgbClr val="294E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58DEF-D65B-4726-97EB-6F265448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294E78"/>
                </a:solidFill>
              </a:defRPr>
            </a:pPr>
            <a:r>
              <a:rPr sz="1088" b="1">
                <a:solidFill>
                  <a:srgbClr val="294E78"/>
                </a:solidFill>
              </a:rPr>
              <a:t>ESTÁNDAR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B8710-2994-4833-A73E-8516186E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14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365D"/>
                </a:solidFill>
              </a:defRPr>
            </a:pPr>
            <a:r>
              <a:rPr sz="1200" b="1">
                <a:solidFill>
                  <a:srgbClr val="1A365D"/>
                </a:solidFill>
              </a:rPr>
              <a:t>Ciclo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FFFFE-B03F-40A4-83A8-663B582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71750"/>
            <a:ext cx="1409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5A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F5008-F8E5-41C2-956C-458FED5A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194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E05A47"/>
                </a:solidFill>
              </a:defRPr>
            </a:pPr>
            <a:r>
              <a:rPr sz="1088" b="1">
                <a:solidFill>
                  <a:srgbClr val="E05A47"/>
                </a:solidFill>
              </a:rPr>
              <a:t>DESEMPEÑO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3BBE80-7537-421F-B155-6523AC61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14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365D"/>
                </a:solidFill>
              </a:defRPr>
            </a:pPr>
            <a:r>
              <a:rPr sz="1200" b="1">
                <a:solidFill>
                  <a:srgbClr val="1A365D"/>
                </a:solidFill>
              </a:rPr>
              <a:t>Grado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B022D6-82BF-4BF6-8EDD-FEB90B1A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1409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19050">
            <a:solidFill>
              <a:srgbClr val="D4AF3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72E51D-93F9-445E-95FA-109F7AB5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D4AF37"/>
                </a:solidFill>
              </a:defRPr>
            </a:pPr>
            <a:r>
              <a:rPr sz="1088" b="1">
                <a:solidFill>
                  <a:srgbClr val="D4AF37"/>
                </a:solidFill>
              </a:rPr>
              <a:t>EVIDENCIA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8EDA40-9495-423C-8ADC-1A36FB88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365D"/>
                </a:solidFill>
              </a:defRPr>
            </a:pPr>
            <a:r>
              <a:rPr sz="1200" b="1">
                <a:solidFill>
                  <a:srgbClr val="1A365D"/>
                </a:solidFill>
              </a:rPr>
              <a:t>Qué observo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FDCA24-28D9-40CB-9AC3-B2CEEA75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571750"/>
            <a:ext cx="1409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36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1C8B98-84ED-4E23-B57A-78DEE013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8194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A365D"/>
                </a:solidFill>
              </a:defRPr>
            </a:pPr>
            <a:r>
              <a:rPr sz="1088" b="1">
                <a:solidFill>
                  <a:srgbClr val="1A365D"/>
                </a:solidFill>
              </a:rPr>
              <a:t>ACTIVIDAD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469D1B-5F9C-4B91-BD14-CFE6BC9C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314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365D"/>
                </a:solidFill>
              </a:defRPr>
            </a:pPr>
            <a:r>
              <a:rPr sz="1200" b="1">
                <a:solidFill>
                  <a:srgbClr val="1A365D"/>
                </a:solidFill>
              </a:rPr>
              <a:t>Qué hace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1BA9B9-CB42-4C3E-B5C3-2A22CA64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998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F4DD"/>
          </a:solidFill>
          <a:ln xmlns:a="http://schemas.openxmlformats.org/drawingml/2006/main" w="9525">
            <a:solidFill>
              <a:srgbClr val="D4AF3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026F6B-16F2-44D0-89CA-696443A5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10100"/>
            <a:ext cx="922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A365D"/>
                </a:solidFill>
              </a:defRPr>
            </a:pPr>
            <a:r>
              <a:rPr sz="1875" b="1">
                <a:solidFill>
                  <a:srgbClr val="1A365D"/>
                </a:solidFill>
              </a:rPr>
              <a:t>La coherencia aparece cuando cada decisión conserva la relación con la anterior.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8A0C5-99A3-44EC-ACD0-613D8322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24450"/>
            <a:ext cx="922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05A47"/>
                </a:solidFill>
              </a:defRPr>
            </a:pPr>
            <a:r>
              <a:rPr sz="1350" b="1">
                <a:solidFill>
                  <a:srgbClr val="E05A47"/>
                </a:solidFill>
              </a:rPr>
              <a:t>La plantilla es solo la vista final de esa cadena.</a:t>
            </a:r>
          </a:p>
        </p:txBody>
      </p:sp>
    </p:spTree>
    <p:extLst>
      <p:ext uri="{BB962C8B-B14F-4D97-AF65-F5344CB8AC3E}">
        <p14:creationId xmlns:p14="http://schemas.microsoft.com/office/powerpoint/2010/main" val="19099992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E5BC7C-8FE1-4073-B1C2-5C1EBD0C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81D34-94E4-4759-8CC1-8B10AF03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EL MÉTODO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B463E-F348-453E-9E39-2891C80A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Una fuente de verdad; tres vistas para entregar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f3cc963d145b5"/>
          <a:stretch xmlns:a="http://schemas.openxmlformats.org/drawingml/2006/main"/>
        </p:blipFill>
        <p:spPr>
          <a:xfrm xmlns:a="http://schemas.openxmlformats.org/drawingml/2006/main">
            <a:off x="10001250" y="247650"/>
            <a:ext cx="137160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C9124-2ADD-4069-BE51-AA5F85AB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8432A-F799-4001-887D-5C267CFF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1A365D"/>
                </a:solidFill>
              </a:defRPr>
            </a:pPr>
            <a:r>
              <a:rPr sz="713" b="1">
                <a:solidFill>
                  <a:srgbClr val="1A365D"/>
                </a:solidFill>
              </a:rPr>
              <a:t>ATENEA GRUPO EDUCATIVO · KIT PLANIFIKIA PERÚ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A9F23-C14A-4ADC-AFA6-800B4B1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57487"/>
                </a:solidFill>
              </a:defRPr>
            </a:pPr>
            <a:r>
              <a:rPr sz="788" b="1">
                <a:solidFill>
                  <a:srgbClr val="657487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A3A83-2B2E-4249-9F3A-90A8A803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-371475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F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F88BC-6109-44C8-B8AA-58F2AF39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05A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9FD90-4835-46E2-A855-97452BA3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371475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16984-C75F-415B-8D6F-FD0F8EA6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62125"/>
            <a:ext cx="66294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AE661-8BC6-4A73-86AB-934E0569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567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4AF37"/>
                </a:solidFill>
              </a:defRPr>
            </a:pPr>
            <a:r>
              <a:rPr sz="2175" b="1">
                <a:solidFill>
                  <a:srgbClr val="D4AF37"/>
                </a:solidFill>
              </a:rPr>
              <a:t>PLANEADOR MAESTRO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CA075-8A9E-4B4A-BA15-25B578CC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09850"/>
            <a:ext cx="567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Cadena curricular + decisiones de contexto</a:t>
            </a:r>
          </a:p>
          <a:p xmlns:a="http://schemas.openxmlformats.org/drawingml/2006/main">
            <a:pPr algn="ctr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+ criterios + evidencia + evaluación formativa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584D7-D305-4F22-95F7-895276AE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2857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BF4DD"/>
          </a:solidFill>
          <a:ln xmlns:a="http://schemas.openxmlformats.org/drawingml/2006/main" w="19050">
            <a:solidFill>
              <a:srgbClr val="D4AF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1136E-0623-4888-889F-43727DC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529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4AF37"/>
                </a:solidFill>
              </a:defRPr>
            </a:pPr>
            <a:r>
              <a:rPr sz="1575" b="1">
                <a:solidFill>
                  <a:srgbClr val="D4AF37"/>
                </a:solidFill>
              </a:rPr>
              <a:t>UNIDAD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496AC-C35C-491B-BB2D-121CCB46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9600"/>
            <a:ext cx="2857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BE9E5"/>
          </a:solidFill>
          <a:ln xmlns:a="http://schemas.openxmlformats.org/drawingml/2006/main" w="19050">
            <a:solidFill>
              <a:srgbClr val="E05A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1339E-7D58-4C20-A84F-6745451D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529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05A47"/>
                </a:solidFill>
              </a:defRPr>
            </a:pPr>
            <a:r>
              <a:rPr sz="1575" b="1">
                <a:solidFill>
                  <a:srgbClr val="E05A47"/>
                </a:solidFill>
              </a:rPr>
              <a:t>SESIÓN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3C6E5-6863-4532-B78C-823A6FCD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2857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19050">
            <a:solidFill>
              <a:srgbClr val="294E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88334-B443-48B9-AF68-7FA4BED2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529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94E78"/>
                </a:solidFill>
              </a:defRPr>
            </a:pPr>
            <a:r>
              <a:rPr sz="1575" b="1">
                <a:solidFill>
                  <a:srgbClr val="294E78"/>
                </a:solidFill>
              </a:rPr>
              <a:t>EXPERIENCIA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7DC18-1EC2-4D31-A506-EE75E0B7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24525"/>
            <a:ext cx="8191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79EE7-E8D5-45F3-AA97-BFD67876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819775"/>
            <a:ext cx="7658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365D"/>
                </a:solidFill>
              </a:defRPr>
            </a:pPr>
            <a:r>
              <a:rPr sz="1275" b="1">
                <a:solidFill>
                  <a:srgbClr val="1A365D"/>
                </a:solidFill>
              </a:rPr>
              <a:t>No son tres planeaciones: son tres vistas de la misma decisión pedagógica.</a:t>
            </a:r>
          </a:p>
        </p:txBody>
      </p:sp>
    </p:spTree>
    <p:extLst>
      <p:ext uri="{BB962C8B-B14F-4D97-AF65-F5344CB8AC3E}">
        <p14:creationId xmlns:p14="http://schemas.microsoft.com/office/powerpoint/2010/main" val="246379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BDF71C-5230-46F7-8FBE-162AA5F1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104F0-2792-4EB2-9BD9-3812F44B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IMPACTO EN EL APRENDIZAJE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F04AB-9684-44CF-BCA0-CBA48C1C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El estudiante encuentra criterios coherentes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2aa1b91554fc2"/>
          <a:stretch xmlns:a="http://schemas.openxmlformats.org/drawingml/2006/main"/>
        </p:blipFill>
        <p:spPr>
          <a:xfrm xmlns:a="http://schemas.openxmlformats.org/drawingml/2006/main">
            <a:off x="10001250" y="247650"/>
            <a:ext cx="137160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EE69C-384B-4990-9A52-CA98FC19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3E8D4-321E-4DB0-869F-16B263B4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657487"/>
                </a:solidFill>
              </a:defRPr>
            </a:pPr>
            <a:r>
              <a:rPr sz="713" b="1">
                <a:solidFill>
                  <a:srgbClr val="657487"/>
                </a:solidFill>
              </a:rPr>
              <a:t>Evaluación formativa: Sección VII del CNEB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817ED-8038-4ACE-A094-FDD6747C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57487"/>
                </a:solidFill>
              </a:defRPr>
            </a:pPr>
            <a:r>
              <a:rPr sz="788" b="1">
                <a:solidFill>
                  <a:srgbClr val="657487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3F706-C358-4F77-8A39-A639F219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481965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61D6A-E01D-4957-9465-6CFF0A47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AF37"/>
                </a:solidFill>
              </a:defRPr>
            </a:pPr>
            <a:r>
              <a:rPr sz="1125" b="1">
                <a:solidFill>
                  <a:srgbClr val="D4AF37"/>
                </a:solidFill>
              </a:rPr>
              <a:t>MISMO NORTE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CC780-8652-4B6B-9637-DDF2B20F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Lo que aprende,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practica y demuestra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permanece conectado.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4C882-2405-4FDD-822D-6699B6B9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9E2EC"/>
                </a:solidFill>
              </a:defRPr>
            </a:pPr>
            <a:r>
              <a:rPr sz="1275">
                <a:solidFill>
                  <a:srgbClr val="D9E2EC"/>
                </a:solidFill>
              </a:rPr>
              <a:t>La coherencia deja de depender de documentos separados.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66BB6-A0FA-4804-8B71-1D0115C9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0F884-F164-4B54-8AE5-93F642A4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9D79C-8B4F-4D5A-AE7E-5530BB98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57375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Criterios conocidos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421A1-5A01-4991-AB7E-A503534C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38375"/>
            <a:ext cx="443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13">
                <a:solidFill>
                  <a:srgbClr val="243247"/>
                </a:solidFill>
              </a:defRPr>
            </a:pPr>
            <a:r>
              <a:rPr sz="1313">
                <a:solidFill>
                  <a:srgbClr val="243247"/>
                </a:solidFill>
              </a:rPr>
              <a:t>El estudiante entiende qué se espera antes de producir la evidencia.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A63AD5-344B-4077-AA60-D333756C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242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D5C88-74D2-4D17-87E9-7D94E6E1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289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44B3B-7110-4256-BA7F-FAE23CEA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14675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Evidencia con propósito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590718-340D-4AF0-8675-344C47FE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95675"/>
            <a:ext cx="443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13">
                <a:solidFill>
                  <a:srgbClr val="243247"/>
                </a:solidFill>
              </a:defRPr>
            </a:pPr>
            <a:r>
              <a:rPr sz="1313">
                <a:solidFill>
                  <a:srgbClr val="243247"/>
                </a:solidFill>
              </a:rPr>
              <a:t>La actividad permite observar el desempeño seleccionado.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964FD-E1EA-458F-B38C-CE2DEDF9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81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93C47F-2E45-49FC-9588-01806E97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862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82218-5B53-4641-B159-5FF8DF0D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71975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Retroalimentación útil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3F1175-8829-41F5-98A0-810B757A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52975"/>
            <a:ext cx="443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13">
                <a:solidFill>
                  <a:srgbClr val="243247"/>
                </a:solidFill>
              </a:defRPr>
            </a:pPr>
            <a:r>
              <a:rPr sz="1313">
                <a:solidFill>
                  <a:srgbClr val="243247"/>
                </a:solidFill>
              </a:rPr>
              <a:t>La devolución se conecta con criterios y siguientes pasos.</a:t>
            </a:r>
          </a:p>
        </p:txBody>
      </p:sp>
    </p:spTree>
    <p:extLst>
      <p:ext uri="{BB962C8B-B14F-4D97-AF65-F5344CB8AC3E}">
        <p14:creationId xmlns:p14="http://schemas.microsoft.com/office/powerpoint/2010/main" val="767044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78C6DD-B883-4974-9F30-AA6DFF47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46A58-7CD0-48D7-BCB4-D4A8EF57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VALOR INSTITUCIONAL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597AF-32FE-4D83-8F07-640D6598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La IE gana trazabilidad sin ampliar la burocracia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9d6a2225b4cc1"/>
          <a:stretch xmlns:a="http://schemas.openxmlformats.org/drawingml/2006/main"/>
        </p:blipFill>
        <p:spPr>
          <a:xfrm xmlns:a="http://schemas.openxmlformats.org/drawingml/2006/main">
            <a:off x="10001250" y="247650"/>
            <a:ext cx="137160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ABD64-9835-42D7-8C86-0B3E644A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A83F8-D28E-48C5-A72A-4C99B749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1A365D"/>
                </a:solidFill>
              </a:defRPr>
            </a:pPr>
            <a:r>
              <a:rPr sz="713" b="1">
                <a:solidFill>
                  <a:srgbClr val="1A365D"/>
                </a:solidFill>
              </a:rPr>
              <a:t>ATENEA GRUPO EDUCATIVO · KIT PLANIFIKIA PERÚ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89D2F-534B-4648-99F6-19A83BE4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57487"/>
                </a:solidFill>
              </a:defRPr>
            </a:pPr>
            <a:r>
              <a:rPr sz="788" b="1">
                <a:solidFill>
                  <a:srgbClr val="657487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EE34A-4238-4FD4-B227-E52D9B80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E0D51-391D-4A2B-8FE7-3BCF216F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8C85A-8BEE-4111-AF7C-4F821070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33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Trazabilidad en minutos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2D5BF-00ED-44D6-87CC-875A4043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622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88">
                <a:solidFill>
                  <a:srgbClr val="243247"/>
                </a:solidFill>
              </a:defRPr>
            </a:pPr>
            <a:r>
              <a:rPr sz="1388">
                <a:solidFill>
                  <a:srgbClr val="243247"/>
                </a:solidFill>
              </a:rPr>
              <a:t>Una revisión sigue la cadena desde la competencia hasta la evidencia.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52939-ED9F-4AE3-9B18-F1F664B8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57450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3A9AE-A955-478A-A25A-78454D32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56941-B060-4601-8BFA-6CF63F93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479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7CCC7-728D-4D13-B953-61755ADB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Acompañamiento pedagógico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C923D-78FF-4E2E-80E3-1033D928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43200"/>
            <a:ext cx="622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88">
                <a:solidFill>
                  <a:srgbClr val="243247"/>
                </a:solidFill>
              </a:defRPr>
            </a:pPr>
            <a:r>
              <a:rPr sz="1388">
                <a:solidFill>
                  <a:srgbClr val="243247"/>
                </a:solidFill>
              </a:rPr>
              <a:t>La conversación se centra en decisiones, no en copiar casillas.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32DF1-6BB3-4736-96EC-38AE5012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48050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75A9C-CA76-4948-ACD4-4B07522D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679B3-6569-4D9E-85CC-672EB386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5C669-E6A2-4401-93EA-5D4D03C4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14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Acuerdos comunes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C6E8C4-27B7-4F20-A156-ACDE7626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33800"/>
            <a:ext cx="622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88">
                <a:solidFill>
                  <a:srgbClr val="243247"/>
                </a:solidFill>
              </a:defRPr>
            </a:pPr>
            <a:r>
              <a:rPr sz="1388">
                <a:solidFill>
                  <a:srgbClr val="243247"/>
                </a:solidFill>
              </a:rPr>
              <a:t>Los criterios de calidad se aplican sin uniformar la enseñanza.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D9BF7-62A2-4143-9F07-2348E0E2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38650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3BCD0D-4432-4415-B594-EB9E3F04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F5E35-079A-4348-98A0-89D220E6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661F3-7A92-49CA-8D4A-EC09CB4A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05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Memoria institucional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39F232-9B4F-4F07-A170-95B1DF10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24400"/>
            <a:ext cx="622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88">
                <a:solidFill>
                  <a:srgbClr val="243247"/>
                </a:solidFill>
              </a:defRPr>
            </a:pPr>
            <a:r>
              <a:rPr sz="1388">
                <a:solidFill>
                  <a:srgbClr val="243247"/>
                </a:solidFill>
              </a:rPr>
              <a:t>Los ajustes quedan registrados en una sola fuente compartida.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F7C735-5116-4773-A61A-0C87D69A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95950"/>
            <a:ext cx="7658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0F1717-437A-49C1-9891-7EC73D5A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810250"/>
            <a:ext cx="708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Revisar la pedagogía, no perseguir versiones de archivos.</a:t>
            </a:r>
          </a:p>
        </p:txBody>
      </p:sp>
    </p:spTree>
    <p:extLst>
      <p:ext uri="{BB962C8B-B14F-4D97-AF65-F5344CB8AC3E}">
        <p14:creationId xmlns:p14="http://schemas.microsoft.com/office/powerpoint/2010/main" val="2101718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D0020F-C30A-4BB2-B7C4-103ABBC5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B0E94-DA38-40AE-A967-C004EF4C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EXPERIENCIA DOCENTE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63655-B67D-4E4B-8FDC-3D2D67AE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Menos búsqueda; más decisión profesional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1521c0d34482b"/>
          <a:stretch xmlns:a="http://schemas.openxmlformats.org/drawingml/2006/main"/>
        </p:blipFill>
        <p:spPr>
          <a:xfrm xmlns:a="http://schemas.openxmlformats.org/drawingml/2006/main">
            <a:off x="10001250" y="247650"/>
            <a:ext cx="137160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2D781-94AE-40AD-9A10-EEACED5B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AE934-35B7-4D72-BA7E-FEED6262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1A365D"/>
                </a:solidFill>
              </a:defRPr>
            </a:pPr>
            <a:r>
              <a:rPr sz="713" b="1">
                <a:solidFill>
                  <a:srgbClr val="1A365D"/>
                </a:solidFill>
              </a:rPr>
              <a:t>ATENEA GRUPO EDUCATIVO · KIT PLANIFIKIA PERÚ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34829-468F-429A-A58B-D36B9007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57487"/>
                </a:solidFill>
              </a:defRPr>
            </a:pPr>
            <a:r>
              <a:rPr sz="788" b="1">
                <a:solidFill>
                  <a:srgbClr val="657487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360FA-20E7-4400-A1EC-A15EBA9F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50673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BE9E5"/>
          </a:solidFill>
          <a:ln xmlns:a="http://schemas.openxmlformats.org/drawingml/2006/main" w="9525">
            <a:solidFill>
              <a:srgbClr val="E05A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1E7A7-4103-48BE-9593-1ED2AEF9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05A47"/>
                </a:solidFill>
              </a:defRPr>
            </a:pPr>
            <a:r>
              <a:rPr sz="1200" b="1">
                <a:solidFill>
                  <a:srgbClr val="E05A47"/>
                </a:solidFill>
              </a:rPr>
              <a:t>HOY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0CC09-1FE7-47CA-82F4-C5FABD66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4419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A365D"/>
                </a:solidFill>
              </a:defRPr>
            </a:pPr>
            <a:r>
              <a:rPr sz="2100" b="1">
                <a:solidFill>
                  <a:srgbClr val="1A365D"/>
                </a:solidFill>
              </a:rPr>
              <a:t>Buscar, copiar y volver</a:t>
            </a:r>
          </a:p>
          <a:p xmlns:a="http://schemas.openxmlformats.org/drawingml/2006/main">
            <a:pPr algn="ctr">
              <a:defRPr sz="2100" b="1">
                <a:solidFill>
                  <a:srgbClr val="1A365D"/>
                </a:solidFill>
              </a:defRPr>
            </a:pPr>
            <a:r>
              <a:rPr sz="2100" b="1">
                <a:solidFill>
                  <a:srgbClr val="1A365D"/>
                </a:solidFill>
              </a:rPr>
              <a:t>a ajustar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93983-E852-4604-B1C4-F927AD0D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24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07059-DB2B-4F9B-A395-8EDDC739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38550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7"/>
                </a:solidFill>
              </a:defRPr>
            </a:pPr>
            <a:r>
              <a:rPr sz="1350">
                <a:solidFill>
                  <a:srgbClr val="243247"/>
                </a:solidFill>
              </a:rPr>
              <a:t>Desempeños dispersos por área y grado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E75AC-120A-4761-B8ED-E5DF4213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7347E-5D81-44E8-A598-89B7B805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05300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7"/>
                </a:solidFill>
              </a:defRPr>
            </a:pPr>
            <a:r>
              <a:rPr sz="1350">
                <a:solidFill>
                  <a:srgbClr val="243247"/>
                </a:solidFill>
              </a:rPr>
              <a:t>La misma decisión escrita varias veces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DCF87-F199-4F10-831D-79CDDF96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52600"/>
            <a:ext cx="50673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BF4DD"/>
          </a:solidFill>
          <a:ln xmlns:a="http://schemas.openxmlformats.org/drawingml/2006/main" w="9525">
            <a:solidFill>
              <a:srgbClr val="D4AF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D5313-6D81-453F-882D-9441962D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3835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05A47"/>
                </a:solidFill>
              </a:defRPr>
            </a:pPr>
            <a:r>
              <a:rPr sz="1200" b="1">
                <a:solidFill>
                  <a:srgbClr val="E05A47"/>
                </a:solidFill>
              </a:rPr>
              <a:t>CON EL MÉTODO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B7A73-0717-4CD2-9B8C-0EF2AE9D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4419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A365D"/>
                </a:solidFill>
              </a:defRPr>
            </a:pPr>
            <a:r>
              <a:rPr sz="2100" b="1">
                <a:solidFill>
                  <a:srgbClr val="1A365D"/>
                </a:solidFill>
              </a:rPr>
              <a:t>Elegir, justificar y</a:t>
            </a:r>
          </a:p>
          <a:p xmlns:a="http://schemas.openxmlformats.org/drawingml/2006/main">
            <a:pPr algn="ctr">
              <a:defRPr sz="2100" b="1">
                <a:solidFill>
                  <a:srgbClr val="1A365D"/>
                </a:solidFill>
              </a:defRPr>
            </a:pPr>
            <a:r>
              <a:rPr sz="2100" b="1">
                <a:solidFill>
                  <a:srgbClr val="1A365D"/>
                </a:solidFill>
              </a:rPr>
              <a:t>acompañar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381F1-F3E4-4C49-8B20-5B57187C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24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5B64A3-362E-4830-86D6-BBA82C89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38550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7"/>
                </a:solidFill>
              </a:defRPr>
            </a:pPr>
            <a:r>
              <a:rPr sz="1350">
                <a:solidFill>
                  <a:srgbClr val="243247"/>
                </a:solidFill>
              </a:rPr>
              <a:t>Banco de desempeños con referencia exacta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49CF8E-8741-4926-85C3-EB2D5CDB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0A6CE5-A5C3-47FC-9925-B4CE4EDD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05300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7"/>
                </a:solidFill>
              </a:defRPr>
            </a:pPr>
            <a:r>
              <a:rPr sz="1350">
                <a:solidFill>
                  <a:srgbClr val="243247"/>
                </a:solidFill>
              </a:rPr>
              <a:t>El tiempo vuelve a las decisiones de aula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9DDA93-01A9-4884-922B-B30ACB87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95950"/>
            <a:ext cx="6743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9606D-BE6A-4948-9A45-AE59B927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810250"/>
            <a:ext cx="617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El banco elimina la búsqueda; no reemplaza el criterio docente.</a:t>
            </a:r>
          </a:p>
        </p:txBody>
      </p:sp>
    </p:spTree>
    <p:extLst>
      <p:ext uri="{BB962C8B-B14F-4D97-AF65-F5344CB8AC3E}">
        <p14:creationId xmlns:p14="http://schemas.microsoft.com/office/powerpoint/2010/main" val="4294414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93C5CE-91CA-4FCB-BE71-3FA3F5EE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BA898-4F11-4E5D-BEF7-389E4437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CÓMO EMPEZAMOS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7E822-3BE6-485F-801D-C3F0E987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Un piloto de un periodo nos permite aprender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a90f7abd948f8"/>
          <a:stretch xmlns:a="http://schemas.openxmlformats.org/drawingml/2006/main"/>
        </p:blipFill>
        <p:spPr>
          <a:xfrm xmlns:a="http://schemas.openxmlformats.org/drawingml/2006/main">
            <a:off x="10001250" y="247650"/>
            <a:ext cx="137160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1B8FA-7FC9-4C33-9535-756F2E94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C83FE-814F-439B-B89C-527273C5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1A365D"/>
                </a:solidFill>
              </a:defRPr>
            </a:pPr>
            <a:r>
              <a:rPr sz="713" b="1">
                <a:solidFill>
                  <a:srgbClr val="1A365D"/>
                </a:solidFill>
              </a:rPr>
              <a:t>ATENEA GRUPO EDUCATIVO · KIT PLANIFIKIA PERÚ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8A01C-A948-496F-A928-097A0E28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57487"/>
                </a:solidFill>
              </a:defRPr>
            </a:pPr>
            <a:r>
              <a:rPr sz="788" b="1">
                <a:solidFill>
                  <a:srgbClr val="657487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91C5F-F9E1-4F2A-8F1D-7707E7BD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91077-A68E-4523-A64C-5E271744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81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507BF-A3DD-4E0E-AE3C-7575F79F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4322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3D9EA-67B1-40A6-8DC0-5B70DD58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AF37"/>
                </a:solidFill>
              </a:defRPr>
            </a:pPr>
            <a:r>
              <a:rPr sz="1125" b="1">
                <a:solidFill>
                  <a:srgbClr val="D4AF37"/>
                </a:solidFill>
              </a:rPr>
              <a:t>ELEGIR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1EAE3-1DAE-4474-919D-51C0F2DF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3048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4AF3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1A106-1C3D-48B8-8002-9B60F538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259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Un grado y un área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E8176-4A4B-41CA-A4A7-66BEE0C9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867C7-05DA-4502-9C76-45E8C32B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4322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6A1AF-DBF3-4251-BC68-FFE43E44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43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05A47"/>
                </a:solidFill>
              </a:defRPr>
            </a:pPr>
            <a:r>
              <a:rPr sz="1125" b="1">
                <a:solidFill>
                  <a:srgbClr val="E05A47"/>
                </a:solidFill>
              </a:rPr>
              <a:t>APLICAR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FF711-295F-4671-8DF3-0201D7EA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048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5A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094CB-C877-44EC-9129-BE36487F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4800"/>
            <a:ext cx="259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Planeador maestro durante un periodo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2AC34E-C25D-44C0-98C5-447EF006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1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E336A-8918-45D8-B687-BF44AED3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4322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8569BA-22AD-4508-AC72-3ECB2FFE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43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94E78"/>
                </a:solidFill>
              </a:defRPr>
            </a:pPr>
            <a:r>
              <a:rPr sz="1125" b="1">
                <a:solidFill>
                  <a:srgbClr val="294E78"/>
                </a:solidFill>
              </a:rPr>
              <a:t>REVISAR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069BD0-BFD3-43B5-9263-7B1D8A82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33800"/>
            <a:ext cx="3048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94E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026F6-E9F9-4FA2-97E0-B99893A2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259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Cotejo P4.2 + rúbrica P4.3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540993-AA56-49A3-B4EE-4B815C79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857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F3C42E-09D8-4DE5-80B0-EAEDD7C6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959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A365D"/>
                </a:solidFill>
              </a:defRPr>
            </a:pPr>
            <a:r>
              <a:rPr sz="1388" b="1">
                <a:solidFill>
                  <a:srgbClr val="1A365D"/>
                </a:solidFill>
              </a:rPr>
              <a:t>Los instrumentos P4.2 y P4.3 funcionan como acuerdos comunes de calidad.</a:t>
            </a:r>
          </a:p>
        </p:txBody>
      </p:sp>
    </p:spTree>
    <p:extLst>
      <p:ext uri="{BB962C8B-B14F-4D97-AF65-F5344CB8AC3E}">
        <p14:creationId xmlns:p14="http://schemas.microsoft.com/office/powerpoint/2010/main" val="2118467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A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443F06-E66C-422E-B8A8-5BB5ACAE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9437380314a8b"/>
          <a:stretch xmlns:a="http://schemas.openxmlformats.org/drawingml/2006/main"/>
        </p:blipFill>
        <p:spPr>
          <a:xfrm xmlns:a="http://schemas.openxmlformats.org/drawingml/2006/main">
            <a:off x="9409113" y="438150"/>
            <a:ext cx="1879600" cy="704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C0C92-7961-458C-9D2E-E16E4C37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AF37"/>
                </a:solidFill>
              </a:defRPr>
            </a:pPr>
            <a:r>
              <a:rPr sz="1050" b="1">
                <a:solidFill>
                  <a:srgbClr val="D4AF37"/>
                </a:solidFill>
              </a:rPr>
              <a:t>CIERRE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3E528-B9B5-4A57-A549-F0EDCC70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El currículo pide la cadena,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no la carpeta.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F99AA-0699-4630-BF0D-97FDD4F9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4AF37"/>
                </a:solidFill>
              </a:defRPr>
            </a:pPr>
            <a:r>
              <a:rPr sz="2025" b="1">
                <a:solidFill>
                  <a:srgbClr val="D4AF37"/>
                </a:solidFill>
              </a:rPr>
              <a:t>Próximos pasos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AFDB1-071F-47D0-BBB5-750A1BF3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222B1-D6DA-4D44-BE15-66001A4C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290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Grado y área: ____________________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93E02-6C29-4C0E-AA48-33797877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6D257-A536-4FD4-BC4A-E3711D46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Responsables: ___________________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155FD-BE5E-4000-9E87-7427EB55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1B84D-F827-472F-A22E-03426B6B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672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Fecha de revisión: _______________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EAC62-296D-4348-8388-DEDFFBF2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71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62E52-E8FB-4A46-A20C-159E68AA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3143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Planificar una vez.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Entregar tres formatos.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Decidir mejor.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9E506-6F44-4A8C-8D6A-E41DDBBB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03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E2EC"/>
                </a:solidFill>
              </a:defRPr>
            </a:pPr>
            <a:r>
              <a:rPr sz="825" b="1">
                <a:solidFill>
                  <a:srgbClr val="D9E2EC"/>
                </a:solidFill>
              </a:rPr>
              <a:t>PROPUESTA PARA NUESTRA IE · KIT PLANIFIKIA PERÚ</a:t>
            </a:r>
          </a:p>
        </p:txBody>
      </p:sp>
    </p:spTree>
    <p:extLst>
      <p:ext uri="{BB962C8B-B14F-4D97-AF65-F5344CB8AC3E}">
        <p14:creationId xmlns:p14="http://schemas.microsoft.com/office/powerpoint/2010/main" val="579334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tenea Grupo Educativo">
      <a:majorFont>
        <a:latin typeface="Merriweather"/>
        <a:ea typeface="Calibri Light"/>
        <a:cs typeface="Calibri Light"/>
      </a:majorFont>
      <a:minorFont>
        <a:latin typeface="Inter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2026-07-20T15:08:42.8480000Z</dcterms:created>
  <dcterms:modified xsi:type="dcterms:W3CDTF">2026-07-20T15:08:42.8480000Z</dcterms:modified>
</coreProperties>
</file>