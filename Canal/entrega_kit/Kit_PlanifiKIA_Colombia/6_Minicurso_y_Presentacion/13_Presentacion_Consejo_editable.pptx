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6e0f71d28c4676" /><Relationship Type="http://schemas.openxmlformats.org/officeDocument/2006/relationships/extended-properties" Target="/docProps/app.xml" Id="Rd23a0f432abd4222" /><Relationship Type="http://schemas.openxmlformats.org/officeDocument/2006/relationships/officeDocument" Target="/ppt/presentation.xml" Id="R44e840ff8e7149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b7730199f5407f"/>
  </p:sldMasterIdLst>
  <p:notesMasterIdLst>
    <p:notesMasterId xmlns:r="http://schemas.openxmlformats.org/officeDocument/2006/relationships" r:id="Reca7cf64378f4209"/>
  </p:notesMasterIdLst>
  <p:sldIdLst>
    <p:sldId xmlns:r="http://schemas.openxmlformats.org/officeDocument/2006/relationships" id="256" r:id="R1fc21934e0834768"/>
    <p:sldId xmlns:r="http://schemas.openxmlformats.org/officeDocument/2006/relationships" id="257" r:id="R11536d13dd5e4e8f"/>
    <p:sldId xmlns:r="http://schemas.openxmlformats.org/officeDocument/2006/relationships" id="258" r:id="R03c85ea84b21413c"/>
    <p:sldId xmlns:r="http://schemas.openxmlformats.org/officeDocument/2006/relationships" id="259" r:id="Rcbefcc983fc6477c"/>
    <p:sldId xmlns:r="http://schemas.openxmlformats.org/officeDocument/2006/relationships" id="260" r:id="Rd81d1b25e62a48dd"/>
    <p:sldId xmlns:r="http://schemas.openxmlformats.org/officeDocument/2006/relationships" id="261" r:id="R456901ab52c5456a"/>
    <p:sldId xmlns:r="http://schemas.openxmlformats.org/officeDocument/2006/relationships" id="262" r:id="Rb3725f6dfb234b41"/>
    <p:sldId xmlns:r="http://schemas.openxmlformats.org/officeDocument/2006/relationships" id="263" r:id="R3c9e2f89729b434f"/>
    <p:sldId xmlns:r="http://schemas.openxmlformats.org/officeDocument/2006/relationships" id="264" r:id="R5996d90b44524c7c"/>
    <p:sldId xmlns:r="http://schemas.openxmlformats.org/officeDocument/2006/relationships" id="265" r:id="R854a40577a084c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74dadfac449e4" /><Relationship Type="http://schemas.openxmlformats.org/officeDocument/2006/relationships/slideMaster" Target="/ppt/slideMasters/slideMaster1.xml" Id="R45b7730199f5407f" /><Relationship Type="http://schemas.openxmlformats.org/officeDocument/2006/relationships/notesMaster" Target="/ppt/notesMasters/notesMaster1.xml" Id="Reca7cf64378f4209" /><Relationship Type="http://schemas.openxmlformats.org/officeDocument/2006/relationships/presProps" Target="/ppt/presProps.xml" Id="R6eb21b168a2a460c" /><Relationship Type="http://schemas.openxmlformats.org/officeDocument/2006/relationships/tableStyles" Target="/ppt/tableStyles.xml" Id="R45550d04865f4127" /><Relationship Type="http://schemas.openxmlformats.org/officeDocument/2006/relationships/slide" Target="/ppt/slides/slide1.xml" Id="R1fc21934e0834768" /><Relationship Type="http://schemas.openxmlformats.org/officeDocument/2006/relationships/slide" Target="/ppt/slides/slide2.xml" Id="R11536d13dd5e4e8f" /><Relationship Type="http://schemas.openxmlformats.org/officeDocument/2006/relationships/slide" Target="/ppt/slides/slide3.xml" Id="R03c85ea84b21413c" /><Relationship Type="http://schemas.openxmlformats.org/officeDocument/2006/relationships/slide" Target="/ppt/slides/slide4.xml" Id="Rcbefcc983fc6477c" /><Relationship Type="http://schemas.openxmlformats.org/officeDocument/2006/relationships/slide" Target="/ppt/slides/slide5.xml" Id="Rd81d1b25e62a48dd" /><Relationship Type="http://schemas.openxmlformats.org/officeDocument/2006/relationships/slide" Target="/ppt/slides/slide6.xml" Id="R456901ab52c5456a" /><Relationship Type="http://schemas.openxmlformats.org/officeDocument/2006/relationships/slide" Target="/ppt/slides/slide7.xml" Id="Rb3725f6dfb234b41" /><Relationship Type="http://schemas.openxmlformats.org/officeDocument/2006/relationships/slide" Target="/ppt/slides/slide8.xml" Id="R3c9e2f89729b434f" /><Relationship Type="http://schemas.openxmlformats.org/officeDocument/2006/relationships/slide" Target="/ppt/slides/slide9.xml" Id="R5996d90b44524c7c" /><Relationship Type="http://schemas.openxmlformats.org/officeDocument/2006/relationships/slide" Target="/ppt/slides/slide10.xml" Id="R854a40577a08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8fb80d26844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e82d0d33ea4aec" /><Relationship Type="http://schemas.openxmlformats.org/officeDocument/2006/relationships/notesMaster" Target="/ppt/notesMasters/notesMaster1.xml" Id="Raa2780822656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51de40905149df" /><Relationship Type="http://schemas.openxmlformats.org/officeDocument/2006/relationships/notesMaster" Target="/ppt/notesMasters/notesMaster1.xml" Id="Raa274e766177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9248908c964644" /><Relationship Type="http://schemas.openxmlformats.org/officeDocument/2006/relationships/notesMaster" Target="/ppt/notesMasters/notesMaster1.xml" Id="Rfb2f1c67ecee43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221c76b0db4bd1" /><Relationship Type="http://schemas.openxmlformats.org/officeDocument/2006/relationships/notesMaster" Target="/ppt/notesMasters/notesMaster1.xml" Id="R810e6471d5e7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d7585af86e42df" /><Relationship Type="http://schemas.openxmlformats.org/officeDocument/2006/relationships/notesMaster" Target="/ppt/notesMasters/notesMaster1.xml" Id="Rd99c99a8a6e840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5691c098324d97" /><Relationship Type="http://schemas.openxmlformats.org/officeDocument/2006/relationships/notesMaster" Target="/ppt/notesMasters/notesMaster1.xml" Id="R8bfbf2b285a04c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d78f2b31144774" /><Relationship Type="http://schemas.openxmlformats.org/officeDocument/2006/relationships/notesMaster" Target="/ppt/notesMasters/notesMaster1.xml" Id="R68d895ae926e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dcd16dd5d4a4f" /><Relationship Type="http://schemas.openxmlformats.org/officeDocument/2006/relationships/notesMaster" Target="/ppt/notesMasters/notesMaster1.xml" Id="R09cdf0ad438047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049a3d15724b3a" /><Relationship Type="http://schemas.openxmlformats.org/officeDocument/2006/relationships/notesMaster" Target="/ppt/notesMasters/notesMaster1.xml" Id="R1dbf8365a29e4b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4fb92811e944df" /><Relationship Type="http://schemas.openxmlformats.org/officeDocument/2006/relationships/notesMaster" Target="/ppt/notesMasters/notesMaster1.xml" Id="Rf9472151fdf84e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b9ed17c3c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982587d1174556" /><Relationship Type="http://schemas.openxmlformats.org/officeDocument/2006/relationships/slideLayout" Target="/ppt/slideLayouts/slideLayout1.xml" Id="R725e780083ad46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5e780083ad46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54be1f4574765" /><Relationship Type="http://schemas.openxmlformats.org/officeDocument/2006/relationships/image" Target="/ppt/media/image.png" Id="R228a43c56d55448c" /><Relationship Type="http://schemas.openxmlformats.org/officeDocument/2006/relationships/notesSlide" Target="/ppt/notesSlides/notesSlide1.xml" Id="Ra34e4145e2324f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1247146e84c62" /><Relationship Type="http://schemas.openxmlformats.org/officeDocument/2006/relationships/image" Target="/ppt/media/image2.png" Id="R745c62002d9043b2" /><Relationship Type="http://schemas.openxmlformats.org/officeDocument/2006/relationships/notesSlide" Target="/ppt/notesSlides/notesSlide2.xml" Id="Re4da6e4525e7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776083314abd" /><Relationship Type="http://schemas.openxmlformats.org/officeDocument/2006/relationships/image" Target="/ppt/media/image3.png" Id="R3d62f983fdd64d5b" /><Relationship Type="http://schemas.openxmlformats.org/officeDocument/2006/relationships/notesSlide" Target="/ppt/notesSlides/notesSlide3.xml" Id="Rd3db80c770414d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a170cc38348cf" /><Relationship Type="http://schemas.openxmlformats.org/officeDocument/2006/relationships/image" Target="/ppt/media/image4.png" Id="Rf39270b71a374e83" /><Relationship Type="http://schemas.openxmlformats.org/officeDocument/2006/relationships/notesSlide" Target="/ppt/notesSlides/notesSlide4.xml" Id="Ra8b1eb6b4c29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9fcfdf1714ffc" /><Relationship Type="http://schemas.openxmlformats.org/officeDocument/2006/relationships/image" Target="/ppt/media/image5.png" Id="R333ac394ca1c4892" /><Relationship Type="http://schemas.openxmlformats.org/officeDocument/2006/relationships/notesSlide" Target="/ppt/notesSlides/notesSlide5.xml" Id="R6743a159d3af43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976b136fa4296" /><Relationship Type="http://schemas.openxmlformats.org/officeDocument/2006/relationships/image" Target="/ppt/media/image6.png" Id="R451224bc167045a2" /><Relationship Type="http://schemas.openxmlformats.org/officeDocument/2006/relationships/notesSlide" Target="/ppt/notesSlides/notesSlide6.xml" Id="R70fab69d72f245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e4d4418ad4ab8" /><Relationship Type="http://schemas.openxmlformats.org/officeDocument/2006/relationships/image" Target="/ppt/media/image7.png" Id="R6225023dd5da44e2" /><Relationship Type="http://schemas.openxmlformats.org/officeDocument/2006/relationships/notesSlide" Target="/ppt/notesSlides/notesSlide7.xml" Id="R9ba259eee57c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e7fed4e0c41b0" /><Relationship Type="http://schemas.openxmlformats.org/officeDocument/2006/relationships/image" Target="/ppt/media/image8.png" Id="Rdfbf03fe693c4b5a" /><Relationship Type="http://schemas.openxmlformats.org/officeDocument/2006/relationships/notesSlide" Target="/ppt/notesSlides/notesSlide8.xml" Id="R4909d078e86e4d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b04c66b74499" /><Relationship Type="http://schemas.openxmlformats.org/officeDocument/2006/relationships/image" Target="/ppt/media/image9.png" Id="R8ad45ce1ad4e46a6" /><Relationship Type="http://schemas.openxmlformats.org/officeDocument/2006/relationships/notesSlide" Target="/ppt/notesSlides/notesSlide9.xml" Id="Rb930c21c97c847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fd3b3f0774189" /><Relationship Type="http://schemas.openxmlformats.org/officeDocument/2006/relationships/image" Target="/ppt/media/image10.png" Id="Re157fe57b7fb4265" /><Relationship Type="http://schemas.openxmlformats.org/officeDocument/2006/relationships/notesSlide" Target="/ppt/notesSlides/notesSlide10.xml" Id="R374445691697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D3CC4-2E0F-4643-915C-4E528BB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064B2-ADE1-4F09-B283-EE1CD389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3149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75CAD-E6AC-47C6-9F51-4D8C3640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7435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BFA96-AE74-4E08-BE7E-A0145787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86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a43c56d55448c"/>
          <a:stretch xmlns:a="http://schemas.openxmlformats.org/drawingml/2006/main"/>
        </p:blipFill>
        <p:spPr>
          <a:xfrm xmlns:a="http://schemas.openxmlformats.org/drawingml/2006/main">
            <a:off x="1358900" y="628650"/>
            <a:ext cx="1930400" cy="723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5C620-B5D5-4EF2-99E1-3B15A02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PROPUESTA AL CONSEJO ACADÉMICO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A28CE-AC95-4107-8395-4C7EF2B7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Planear una vez,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entregar los tres formatos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4C99A-B867-4B94-B72E-B1D165AC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AF37"/>
                </a:solidFill>
              </a:defRPr>
            </a:pPr>
            <a:r>
              <a:rPr sz="1875" b="1">
                <a:solidFill>
                  <a:srgbClr val="D4AF37"/>
                </a:solidFill>
              </a:rPr>
              <a:t>Planeador maestro institucional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B3131-9D82-4FCB-AB6F-6C32940C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8305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44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CC576-5E65-43B6-A5B2-2344B76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769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Institución: ____     ·     Presenta: ____     ·     Fecha: 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FCB6C-56C4-4BB4-93BD-5EDA15C7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48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E2EC"/>
                </a:solidFill>
              </a:defRPr>
            </a:pPr>
            <a:r>
              <a:rPr sz="825" b="1">
                <a:solidFill>
                  <a:srgbClr val="D9E2EC"/>
                </a:solidFill>
              </a:rPr>
              <a:t>KIT PLANIFIKIA · EDICIÓN COLOMBIA</a:t>
            </a:r>
          </a:p>
        </p:txBody>
      </p:sp>
    </p:spTree>
    <p:extLst>
      <p:ext uri="{BB962C8B-B14F-4D97-AF65-F5344CB8AC3E}">
        <p14:creationId xmlns:p14="http://schemas.microsoft.com/office/powerpoint/2010/main" val="991587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B8C76-4C82-44D3-959C-7D9EC5C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E9D5E-0762-4DA1-B6DF-84E94A3A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PUNTO DE PARTIDA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37B21-A427-426D-929A-E05F3BB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El triple formato repite trabajo, no aprendizaje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c62002d9043b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8404E-9FB8-4CDD-ABFC-391092A9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BCEED-6E5D-42B1-8D77-F6C09FA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DB8F5-DFA2-4B2B-B9AD-CE82A2A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79393-538B-4A67-83C7-AD9627D5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333750" cy="3381375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897E5-D650-4007-A4BD-9FA2AC07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D4AF37"/>
                </a:solidFill>
              </a:defRPr>
            </a:pPr>
            <a:r>
              <a:rPr sz="4800" b="1">
                <a:solidFill>
                  <a:srgbClr val="D4AF37"/>
                </a:solidFill>
              </a:rPr>
              <a:t>~70%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ECA05-E250-4E77-80D5-A92E5DF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del contenido se repite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C86A9-43B5-4519-B0D5-97E5731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D9E2EC"/>
                </a:solidFill>
              </a:defRPr>
            </a:pPr>
            <a:r>
              <a:rPr sz="1200">
                <a:solidFill>
                  <a:srgbClr val="D9E2EC"/>
                </a:solidFill>
              </a:rPr>
              <a:t>DBA · evidencias · secuencia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DDF23-945D-4246-BC6A-95CF7A9C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05A47"/>
                </a:solidFill>
              </a:defRPr>
            </a:pPr>
            <a:r>
              <a:rPr sz="1275" b="1">
                <a:solidFill>
                  <a:srgbClr val="E05A47"/>
                </a:solidFill>
              </a:rPr>
              <a:t>Tres formatos. Tres plantillas.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E15CE-3217-4CAF-B016-9D1F0A6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711EC-DD6B-4D53-885F-0D16FBF5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669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03568-8DD1-461B-B40A-55F6C978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43100"/>
            <a:ext cx="615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247"/>
                </a:solidFill>
              </a:defRPr>
            </a:pPr>
            <a:r>
              <a:rPr sz="1575" b="0">
                <a:solidFill>
                  <a:srgbClr val="243247"/>
                </a:solidFill>
              </a:rPr>
              <a:t>Cada docente entrega plan de área, plan de aula y malla.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208A6-0D64-4E4B-B2CD-CC3B0FF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21AA0-BAFC-44F0-89FF-E7DA3855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2897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0CECC-D420-4A79-BDB7-55A2F2AE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615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247"/>
                </a:solidFill>
              </a:defRPr>
            </a:pPr>
            <a:r>
              <a:rPr sz="1575" b="1">
                <a:solidFill>
                  <a:srgbClr val="243247"/>
                </a:solidFill>
              </a:rPr>
              <a:t>Las incoherencias entre formatos concentran las devoluciones de coordinación.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D19F4-D3D3-455C-BFC0-3E19DE7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6E5B9-AF15-4645-9590-4A383F92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9102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CA8DF-C9E1-4B15-B2EB-7FECAE7F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67200"/>
            <a:ext cx="6153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247"/>
                </a:solidFill>
              </a:defRPr>
            </a:pPr>
            <a:r>
              <a:rPr sz="1575" b="0">
                <a:solidFill>
                  <a:srgbClr val="243247"/>
                </a:solidFill>
              </a:rPr>
              <a:t>Son horas de trabajo no reconocido que no mejoran ningún aprendizaje.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AA39FE-8713-4DB1-9A7F-BF8B00F3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6800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14BE3-7414-46F3-80E7-461989B4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10200"/>
            <a:ext cx="622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05A47"/>
                </a:solidFill>
              </a:defRPr>
            </a:pPr>
            <a:r>
              <a:rPr sz="1425" b="1">
                <a:solidFill>
                  <a:srgbClr val="E05A47"/>
                </a:solidFill>
              </a:rPr>
              <a:t>El costo es administrativo; el aprendizaje no recibe ese tiempo.</a:t>
            </a:r>
          </a:p>
        </p:txBody>
      </p:sp>
    </p:spTree>
    <p:extLst>
      <p:ext uri="{BB962C8B-B14F-4D97-AF65-F5344CB8AC3E}">
        <p14:creationId xmlns:p14="http://schemas.microsoft.com/office/powerpoint/2010/main" val="1024935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E8445-CF12-4D1D-86F8-3489EDF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90E47-80B8-4A8C-9E9B-6CC3EBFA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SUSTENTO NORMATIVO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171F1-2216-4046-B8B4-8127B6A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La institución define el formato; el MEN define el referente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2f983fdd64d5b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623F6-B0C5-4E3D-BAFA-8A33C6C3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9230E-E1B3-4E71-853D-6FEF59E9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657487"/>
                </a:solidFill>
              </a:defRPr>
            </a:pPr>
            <a:r>
              <a:rPr sz="713" b="1">
                <a:solidFill>
                  <a:srgbClr val="657487"/>
                </a:solidFill>
              </a:rPr>
              <a:t>Fuentes: documentos DBA MEN V.1/V.2 · PEI institucional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2DE5A-9BB9-4CA7-8EA1-2BCFEF2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EC657-6872-4F3D-9A19-29E70686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1E1EE-DB9F-4D29-9EA5-0717E6F8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Los DBA no prescriben ni exigen un formato específico de plan de área, plan de aula o malla.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3B363-ECC4-4DD7-96A0-27FD03B0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95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46262-DC7A-46CB-84D9-5D8698E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05A47"/>
                </a:solidFill>
              </a:defRPr>
            </a:pPr>
            <a:r>
              <a:rPr sz="1125" b="1">
                <a:solidFill>
                  <a:srgbClr val="E05A47"/>
                </a:solidFill>
              </a:rPr>
              <a:t>LOS FORMATOS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E5576-DADE-4BF7-A817-CF8032AC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los define cada institución en el marco de su PEI.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1125B-91FD-45D5-8C05-1302C652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52959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294E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9679C-52D1-4E6A-96FE-4250E2FD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94E78"/>
                </a:solidFill>
              </a:defRPr>
            </a:pPr>
            <a:r>
              <a:rPr sz="1125" b="1">
                <a:solidFill>
                  <a:srgbClr val="294E78"/>
                </a:solidFill>
              </a:rPr>
              <a:t>LOS DBA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7EF83-A4A4-46CD-8B4D-58E3A958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365D"/>
                </a:solidFill>
              </a:defRPr>
            </a:pPr>
            <a:r>
              <a:rPr sz="1500" b="1">
                <a:solidFill>
                  <a:srgbClr val="1A365D"/>
                </a:solidFill>
              </a:rPr>
              <a:t>no constituyen una propuesta curricular por sí solos: son referentes flexibles.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BAC2D-680F-4239-B3D3-DB71DBB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91150"/>
            <a:ext cx="8724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40116-15A8-4963-9EA5-C4FACAE2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530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Conclusión: el triple formato es una decisión nuestra — y podemos rediseñarla.</a:t>
            </a:r>
          </a:p>
        </p:txBody>
      </p:sp>
    </p:spTree>
    <p:extLst>
      <p:ext uri="{BB962C8B-B14F-4D97-AF65-F5344CB8AC3E}">
        <p14:creationId xmlns:p14="http://schemas.microsoft.com/office/powerpoint/2010/main" val="354545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A8871-B319-49E0-8846-9E8339A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2C75D-AC23-4B9B-9166-C00F2B9C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LA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AA293-689C-48DF-9971-32457913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Un planeador maestro alimenta las tres salidas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270b71a374e83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16D5D-4141-4195-B3D2-D1F5D90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42D71-38B2-46BD-8855-B9D01A80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606E-DE96-49AF-8CBC-FF6A441F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BCA1E-106D-4BF8-A1AB-18017893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-371475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DEA45-A795-4E1E-AE81-0F3AD1BE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05A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B8B64-7F86-4A41-87BF-9A3E171A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95675"/>
            <a:ext cx="371475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7FE11-64A6-4558-B002-F138F64C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90700"/>
            <a:ext cx="6667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CB49B-75FE-472B-A481-A2C56EA7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575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4AF37"/>
                </a:solidFill>
              </a:defRPr>
            </a:pPr>
            <a:r>
              <a:rPr sz="2175" b="1">
                <a:solidFill>
                  <a:srgbClr val="D4AF37"/>
                </a:solidFill>
              </a:rPr>
              <a:t>PLANEADOR MAESTRO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56BA5-A8B6-4441-9961-998331B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19375"/>
            <a:ext cx="563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DBA citado + evidencias + secuencia justificada</a:t>
            </a:r>
          </a:p>
          <a:p xmlns:a="http://schemas.openxmlformats.org/drawingml/2006/main">
            <a:pPr algn="ctr"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+ estrategias + evaluación SIEE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12138-0DF4-4E77-BD87-A902617A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57C61-507A-4DC2-9CA2-53CAFD1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4AF37"/>
                </a:solidFill>
              </a:defRPr>
            </a:pPr>
            <a:r>
              <a:rPr sz="1500" b="1">
                <a:solidFill>
                  <a:srgbClr val="D4AF37"/>
                </a:solidFill>
              </a:rPr>
              <a:t>PLAN DE ÁREA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C8742-C0C7-44B5-8F0C-6FD523F8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19050">
            <a:solidFill>
              <a:srgbClr val="E05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2097D-0904-4F02-86EA-FD6F7D7B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05A47"/>
                </a:solidFill>
              </a:defRPr>
            </a:pPr>
            <a:r>
              <a:rPr sz="1500" b="1">
                <a:solidFill>
                  <a:srgbClr val="E05A47"/>
                </a:solidFill>
              </a:rPr>
              <a:t>PLAN DE AULA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8DD70-C6BE-4E2D-951D-3347E5B5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D0B9E-53F5-473F-AD15-09FB8DA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4E78"/>
                </a:solidFill>
              </a:defRPr>
            </a:pPr>
            <a:r>
              <a:rPr sz="1500" b="1">
                <a:solidFill>
                  <a:srgbClr val="294E78"/>
                </a:solidFill>
              </a:rPr>
              <a:t>MALLA CURRICULAR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49BA58-29DF-4490-8889-3888133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57850"/>
            <a:ext cx="845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BFEC2-3422-42D3-8093-C7F9604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772150"/>
            <a:ext cx="788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365D"/>
                </a:solidFill>
              </a:defRPr>
            </a:pPr>
            <a:r>
              <a:rPr sz="1275" b="1">
                <a:solidFill>
                  <a:srgbClr val="1A365D"/>
                </a:solidFill>
              </a:rPr>
              <a:t>Regla de oro: si no está en el planeador, no está en ningún formato.</a:t>
            </a:r>
          </a:p>
        </p:txBody>
      </p:sp>
    </p:spTree>
    <p:extLst>
      <p:ext uri="{BB962C8B-B14F-4D97-AF65-F5344CB8AC3E}">
        <p14:creationId xmlns:p14="http://schemas.microsoft.com/office/powerpoint/2010/main" val="1829811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4F7BA-1062-48B4-BCC1-44BF7F14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8833F-FDAC-40CF-9E22-99406A6D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VALOR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73A5A-C553-43C7-B569-605A759F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La coherencia se vuelve estructural y revisable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ac394ca1c489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74F11-B4D8-4709-82BD-61C4B87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56332-3ADD-4E6F-82EE-E0B13BA0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42FF7-6A6F-4268-A3F9-0E4EE35E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141F1-8F53-4EE7-9901-A447F88F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455DA-0613-4631-BFEB-F013EDB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572DA-2877-467A-8A30-EBCF2C8C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716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Coherencia estructural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EEBEE-0DD6-4905-82AB-C1820464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90700"/>
            <a:ext cx="651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7"/>
                </a:solidFill>
              </a:defRPr>
            </a:pPr>
            <a:r>
              <a:rPr sz="1425">
                <a:solidFill>
                  <a:srgbClr val="243247"/>
                </a:solidFill>
              </a:rPr>
              <a:t>Los tres formatos citan los mismos DBA; la revisión toma minutos.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CA1E-803B-4021-8148-26DA56CA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95550"/>
            <a:ext cx="977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DE137-8845-41B6-B9B9-F0AF6623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356BD-3665-4BC1-99D9-6FD5D8B6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8E38E-467A-4393-AFF8-7924A920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5272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Trazabilidad normativa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C482B-73F8-4C9E-B169-1188AD06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71775"/>
            <a:ext cx="651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7"/>
                </a:solidFill>
              </a:defRPr>
            </a:pPr>
            <a:r>
              <a:rPr sz="1425">
                <a:solidFill>
                  <a:srgbClr val="243247"/>
                </a:solidFill>
              </a:rPr>
              <a:t>Cada unidad se rastrea al DBA textual del documento oficial.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634043-85E5-4669-841D-6E7B893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76625"/>
            <a:ext cx="977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6AE75-B20B-4759-A14A-D600EE9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2B1E91-3723-464A-9F6C-DD05084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350E0-413C-43D5-8423-16D4B0E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Evaluación articulada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06793B-8044-49D4-8E0F-474CEA59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52850"/>
            <a:ext cx="651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7"/>
                </a:solidFill>
              </a:defRPr>
            </a:pPr>
            <a:r>
              <a:rPr sz="1425">
                <a:solidFill>
                  <a:srgbClr val="243247"/>
                </a:solidFill>
              </a:rPr>
              <a:t>Las rúbricas parten de evidencias del DBA y usan nuestra escala SIEE.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C8B3DB-46AC-4DE5-BC33-96F400D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9772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449CB9-9700-476E-845C-C381FF04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AFBF1C-99CD-43EC-AF0B-BFA0D89D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59CE8-A61B-4464-BAA9-D864E886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Tiempo recuperado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63BA4-D2DD-415C-B189-A95F35F9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651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7"/>
                </a:solidFill>
              </a:defRPr>
            </a:pPr>
            <a:r>
              <a:rPr sz="1425">
                <a:solidFill>
                  <a:srgbClr val="243247"/>
                </a:solidFill>
              </a:rPr>
              <a:t>La energía docente vuelve a las decisiones que sí mejoran aprendizajes.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C2C2D-EFA9-4B51-9CBB-01389ED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48325"/>
            <a:ext cx="7505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DE539-E8BE-457B-B485-BCECC01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72150"/>
            <a:ext cx="693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Una sola fuente de verdad para todo el ciclo de planeación.</a:t>
            </a:r>
          </a:p>
        </p:txBody>
      </p:sp>
    </p:spTree>
    <p:extLst>
      <p:ext uri="{BB962C8B-B14F-4D97-AF65-F5344CB8AC3E}">
        <p14:creationId xmlns:p14="http://schemas.microsoft.com/office/powerpoint/2010/main" val="9641465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68C7F0-FCC5-4C35-A9F8-B25E944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DE9EE-26CD-4767-95DC-AA80B7C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EXPERIENCIA DOCENTE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15263-8B44-495C-9193-51BC9E0E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El formato deja de ser trabajo pedagógico adicional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224bc167045a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5640E-8E0C-4BC8-A14F-2C5D5080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82A9B-6BDE-448C-AB06-0C4726A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EBEE0-E455-4B29-ADD9-67F9343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BF1D2-A959-4327-AB78-27277F11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50673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9525">
            <a:solidFill>
              <a:srgbClr val="E05A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C54AA-3AAE-4DFE-9364-D541492C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5A47"/>
                </a:solidFill>
              </a:defRPr>
            </a:pPr>
            <a:r>
              <a:rPr sz="1200" b="1">
                <a:solidFill>
                  <a:srgbClr val="E05A47"/>
                </a:solidFill>
              </a:rPr>
              <a:t>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B03F3-5F7A-43B8-BC54-485FB043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Tres formatos construidos</a:t>
            </a:r>
          </a:p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por separado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52651-0C32-43D2-8191-AED0D5AE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E9B68-FB4F-4D67-9633-F9358995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3855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Transcripción manual y riesgo de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AB012-642F-4C11-A4AB-8750757A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2FA69-491D-437C-9DBE-09740373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La coherencia depende de la memoria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BB3F8-32EC-4870-A308-D7FBB454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0673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9525">
            <a:solidFill>
              <a:srgbClr val="D4AF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77F39-2827-435B-BB30-9B15ACAC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5A47"/>
                </a:solidFill>
              </a:defRPr>
            </a:pPr>
            <a:r>
              <a:rPr sz="1200" b="1">
                <a:solidFill>
                  <a:srgbClr val="E05A47"/>
                </a:solidFill>
              </a:rPr>
              <a:t>CON EL PLANEADOR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2D486-9EC9-4ADD-BA51-5EFA161A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Planea una vez; deriva</a:t>
            </a:r>
          </a:p>
          <a:p xmlns:a="http://schemas.openxmlformats.org/drawingml/2006/main">
            <a:pPr algn="ctr">
              <a:defRPr sz="2100" b="1">
                <a:solidFill>
                  <a:srgbClr val="1A365D"/>
                </a:solidFill>
              </a:defRPr>
            </a:pPr>
            <a:r>
              <a:rPr sz="2100" b="1">
                <a:solidFill>
                  <a:srgbClr val="1A365D"/>
                </a:solidFill>
              </a:rPr>
              <a:t>los tres formatos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5082F-271C-47C2-91ED-F26F1A75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0F1977-8C71-47C7-A2BD-8D2EFD18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DBA transcritos y justificación protegida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58133-0BC7-4E59-945D-8E7CD36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86F9B-0BF4-46F3-8C61-E8271B9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05300"/>
            <a:ext cx="357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Menos desgaste; más tiempo para enseñar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EE9BA-4D26-43BD-A4BA-438B1CA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95950"/>
            <a:ext cx="6743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9BC80-4035-4B67-B31C-E9995CA7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10250"/>
            <a:ext cx="617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El tiempo recuperado vuelve al aula.</a:t>
            </a:r>
          </a:p>
        </p:txBody>
      </p:sp>
    </p:spTree>
    <p:extLst>
      <p:ext uri="{BB962C8B-B14F-4D97-AF65-F5344CB8AC3E}">
        <p14:creationId xmlns:p14="http://schemas.microsoft.com/office/powerpoint/2010/main" val="1945470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2A5082-B604-46FD-8D11-5985BB2B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CC137-9545-4B15-ACF4-89918187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IMPLEMENTACIÓN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54B28-8F01-4ED2-92F5-E56157DF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Podemos probarlo sin cambiarlo todo de una vez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5023dd5da44e2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844C0-FF86-44EA-A3DF-D7FEF8A5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F96AD-C729-411B-A6A0-00810E3A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879AF-0810-4B56-99EA-6A952B4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D02CC-E75E-4713-A0F0-DA393E05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3826D-9C91-4A0B-BED7-1B9C0613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F74BD-4905-4D40-8872-F835743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337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224D4-A5D7-4FE6-AB09-208E380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4AF37"/>
                </a:solidFill>
              </a:defRPr>
            </a:pPr>
            <a:r>
              <a:rPr sz="1125" b="1">
                <a:solidFill>
                  <a:srgbClr val="D4AF37"/>
                </a:solidFill>
              </a:rPr>
              <a:t>FASE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80A4C-1C17-4C7B-8455-35195E61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Este periodo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1CEE3-7C22-41F3-ADAC-D2819189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52EA3-4690-4700-B99A-CCAE05E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Pilotaje voluntario con 2 o 3 docentes que derivan sus formatos.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1A50A-19C3-4F39-80BF-5C63F567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25544-027C-4BB9-A22D-12F2895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337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44ED3-BE7F-445C-9A08-3AD96A62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5A47"/>
                </a:solidFill>
              </a:defRPr>
            </a:pPr>
            <a:r>
              <a:rPr sz="1125" b="1">
                <a:solidFill>
                  <a:srgbClr val="E05A47"/>
                </a:solidFill>
              </a:rPr>
              <a:t>FASE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94573-0B52-4FB6-B87F-9C2444EA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Semana institucional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79225-7AC3-4373-87DA-1D3A21F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05A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D1556-9FA3-4514-AB81-AC3B374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00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El consejo revisa los pilotos con la rúbrica de calidad de la planeación.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E911C-18F0-4EE1-B0C5-F5BBE816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4DEFBF-0A72-4004-AE30-A489607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811C4-BE3A-43CE-B7DA-1FE0D7F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85950"/>
            <a:ext cx="304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E78"/>
                </a:solidFill>
              </a:defRPr>
            </a:pPr>
            <a:r>
              <a:rPr sz="1125" b="1">
                <a:solidFill>
                  <a:srgbClr val="294E78"/>
                </a:solidFill>
              </a:rPr>
              <a:t>FASE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66B14-67AE-480F-89B3-07BF5A42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38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A365D"/>
                </a:solidFill>
              </a:defRPr>
            </a:pPr>
            <a:r>
              <a:rPr sz="1575" b="1">
                <a:solidFill>
                  <a:srgbClr val="1A365D"/>
                </a:solidFill>
              </a:rPr>
              <a:t>Próximo periodo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2B4E4-5428-454F-85EA-C0C13150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30480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94E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B4A87-E855-4E0F-8C90-3B0414D6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0025"/>
            <a:ext cx="2590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43247"/>
                </a:solidFill>
              </a:defRPr>
            </a:pPr>
            <a:r>
              <a:rPr sz="1350">
                <a:solidFill>
                  <a:srgbClr val="243247"/>
                </a:solidFill>
              </a:rPr>
              <a:t>Adopción por áreas y ajuste de plantillas a nuestro PEI.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B5A952-3921-4A4E-B41E-EF3A90E1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14975"/>
            <a:ext cx="8496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23E2D8-0570-48E4-B2E2-764D06D6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792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365D"/>
                </a:solidFill>
              </a:defRPr>
            </a:pPr>
            <a:r>
              <a:rPr sz="1425" b="1">
                <a:solidFill>
                  <a:srgbClr val="1A365D"/>
                </a:solidFill>
              </a:rPr>
              <a:t>Sin big bang: los formatos actuales siguen valiendo; solo cambia cómo se producen.</a:t>
            </a:r>
          </a:p>
        </p:txBody>
      </p:sp>
    </p:spTree>
    <p:extLst>
      <p:ext uri="{BB962C8B-B14F-4D97-AF65-F5344CB8AC3E}">
        <p14:creationId xmlns:p14="http://schemas.microsoft.com/office/powerpoint/2010/main" val="1981054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73B864-1532-440B-B2A9-67D7EDD4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F2DB4-2C6F-4369-9B9D-E0BD9ADA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EVALUACIÓN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FB172-133B-4CD3-AA6C-B642B5A5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Las evidencias del DBA se alinean con nuestro SIEE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f03fe693c4b5a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1442A-B73F-45C3-A54F-785FAF96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11D9B-E6B1-4574-A1E0-D7F7E044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657487"/>
                </a:solidFill>
              </a:defRPr>
            </a:pPr>
            <a:r>
              <a:rPr sz="713" b="1">
                <a:solidFill>
                  <a:srgbClr val="657487"/>
                </a:solidFill>
              </a:rPr>
              <a:t>Fuentes: documentos DBA MEN · Decreto 1290 de 2009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7136A-6ABD-407E-B6F2-7A8B758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2B37-31A9-4C75-8D55-F7677CB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D46CA-5CE4-48F8-9F21-E7DCAAF1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05A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08609-B4EF-49FB-B309-07EE0977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7813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DA6F0-0AAE-498E-AA5C-2A2DAE2B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4AF37"/>
                </a:solidFill>
              </a:defRPr>
            </a:pPr>
            <a:r>
              <a:rPr sz="1275" b="1">
                <a:solidFill>
                  <a:srgbClr val="D4AF37"/>
                </a:solidFill>
              </a:rPr>
              <a:t>EVIDENCIAS DBA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215D2-C7D2-4E07-8DCB-C68B0A3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365D"/>
                </a:solidFill>
              </a:defRPr>
            </a:pPr>
            <a:r>
              <a:rPr sz="1425" b="1">
                <a:solidFill>
                  <a:srgbClr val="1A365D"/>
                </a:solidFill>
              </a:rPr>
              <a:t>Indicios observables de logro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3D338-4EFD-46B2-8E4F-6DBAF074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57425"/>
            <a:ext cx="27813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EAF0F6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0324E-8C13-4B19-9C0A-9EB4BE8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94E78"/>
                </a:solidFill>
              </a:defRPr>
            </a:pPr>
            <a:r>
              <a:rPr sz="1275" b="1">
                <a:solidFill>
                  <a:srgbClr val="294E78"/>
                </a:solidFill>
              </a:rPr>
              <a:t>RÚBRICA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31306-973B-46DB-B8D1-242ABCD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365D"/>
                </a:solidFill>
              </a:defRPr>
            </a:pPr>
            <a:r>
              <a:rPr sz="1425" b="1">
                <a:solidFill>
                  <a:srgbClr val="1A365D"/>
                </a:solidFill>
              </a:rPr>
              <a:t>Criterios rastreables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8C1C6-829D-4E8E-B642-7BE2032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7813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19050">
            <a:solidFill>
              <a:srgbClr val="E05A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DB1E43-6F13-466B-AB06-369D26B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05A47"/>
                </a:solidFill>
              </a:defRPr>
            </a:pPr>
            <a:r>
              <a:rPr sz="1275" b="1">
                <a:solidFill>
                  <a:srgbClr val="E05A47"/>
                </a:solidFill>
              </a:rPr>
              <a:t>ESCALA SIEE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53E32-B1F3-4ED7-8ACC-FCF12C7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A365D"/>
                </a:solidFill>
              </a:defRPr>
            </a:pPr>
            <a:r>
              <a:rPr sz="1425" b="1">
                <a:solidFill>
                  <a:srgbClr val="1A365D"/>
                </a:solidFill>
              </a:rPr>
              <a:t>Nuestra valoración institucional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1E59B-1DF6-41C0-B35C-187CC556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4825"/>
            <a:ext cx="9906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03BCE-34F5-4304-93F7-A0408A9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24375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Comisiones y boletines reciben criterios vinculados al documento oficial y a nuestra escala.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F0F8A-D3B4-4934-9030-DD6A55F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990600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B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9AD96-04AA-4D2B-8689-1F5C4AD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76875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5A47"/>
                </a:solidFill>
              </a:defRPr>
            </a:pPr>
            <a:r>
              <a:rPr sz="1350" b="1">
                <a:solidFill>
                  <a:srgbClr val="E05A47"/>
                </a:solidFill>
              </a:rPr>
              <a:t>Cuidado en transición: los DBA no son logros a evaluar; allí se planean experiencias y ambientes, no rúbricas.</a:t>
            </a:r>
          </a:p>
        </p:txBody>
      </p:sp>
    </p:spTree>
    <p:extLst>
      <p:ext uri="{BB962C8B-B14F-4D97-AF65-F5344CB8AC3E}">
        <p14:creationId xmlns:p14="http://schemas.microsoft.com/office/powerpoint/2010/main" val="139175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9FC27-C0C8-4FF7-A14F-20F5BC45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6A761-0C8F-4F35-AF4D-32364D0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05A47"/>
                </a:solidFill>
              </a:defRPr>
            </a:pPr>
            <a:r>
              <a:rPr sz="975" b="1">
                <a:solidFill>
                  <a:srgbClr val="E05A47"/>
                </a:solidFill>
              </a:rPr>
              <a:t>DECISIÓN DEL CONSEJO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B136B-9F5A-4A06-9FD3-90C006B3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A365D"/>
                </a:solidFill>
              </a:defRPr>
            </a:pPr>
            <a:r>
              <a:rPr sz="2925" b="1">
                <a:solidFill>
                  <a:srgbClr val="1A365D"/>
                </a:solidFill>
              </a:rPr>
              <a:t>Hoy necesitamos acordar un pilotaje concreto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45ce1ad4e46a6"/>
          <a:stretch xmlns:a="http://schemas.openxmlformats.org/drawingml/2006/main"/>
        </p:blipFill>
        <p:spPr>
          <a:xfrm xmlns:a="http://schemas.openxmlformats.org/drawingml/2006/main">
            <a:off x="10001250" y="247650"/>
            <a:ext cx="1371600" cy="514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D391D-7F41-4FDE-96D9-4667F729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5030E-0110-48BE-85D9-91800B17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1A365D"/>
                </a:solidFill>
              </a:defRPr>
            </a:pPr>
            <a:r>
              <a:rPr sz="713" b="1">
                <a:solidFill>
                  <a:srgbClr val="1A365D"/>
                </a:solidFill>
              </a:rPr>
              <a:t>ATENEA GRUPO EDUCATIVO · KIT PLANIFIKIA COLOMBIA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1DAA8-7594-4B40-B901-4ABE1089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5341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57487"/>
                </a:solidFill>
              </a:defRPr>
            </a:pPr>
            <a:r>
              <a:rPr sz="788" b="1">
                <a:solidFill>
                  <a:srgbClr val="657487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35269-275D-4802-98F7-97D6383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0325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BF4DD"/>
          </a:solidFill>
          <a:ln xmlns:a="http://schemas.openxmlformats.org/drawingml/2006/main" w="14288">
            <a:solidFill>
              <a:srgbClr val="D4AF3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E7214-43F6-4A96-8218-BF42828D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859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AF3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2FB49-B063-42BF-8132-15DDA68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365D"/>
                </a:solidFill>
              </a:defRPr>
            </a:pPr>
            <a:r>
              <a:rPr sz="1725" b="1">
                <a:solidFill>
                  <a:srgbClr val="1A365D"/>
                </a:solidFill>
              </a:rPr>
              <a:t>¿Aprobamos el pilotaje voluntario del planeador maestro?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057A5-8109-4C4A-B90D-2972C33F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325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C8DB3-E3AF-4FB0-9296-0734767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051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8418C-BD93-411C-AC3C-0A06D99C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7660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A365D"/>
                </a:solidFill>
              </a:defRPr>
            </a:pPr>
            <a:r>
              <a:rPr sz="1725" b="0">
                <a:solidFill>
                  <a:srgbClr val="1A365D"/>
                </a:solidFill>
              </a:rPr>
              <a:t>¿Quiénes pilotean y en qué áreas o grados?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BD565-285C-4C6F-938A-46CD6265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10325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FE2B8-03FD-4E36-9377-1C3B9B9E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2437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94E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2FFF2-938C-4E87-B073-20E7DF3C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9580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A365D"/>
                </a:solidFill>
              </a:defRPr>
            </a:pPr>
            <a:r>
              <a:rPr sz="1725" b="0">
                <a:solidFill>
                  <a:srgbClr val="1A365D"/>
                </a:solidFill>
              </a:rPr>
              <a:t>¿Qué fecha fijamos para la revisión con la rúbrica de calidad?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4C5A0-420E-4569-8962-3DF11B4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6896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A15A3-B4AE-480E-8195-20EF2DF6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91200"/>
            <a:ext cx="632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Resultado esperado: responsables, alcance y fecha de revisión.</a:t>
            </a:r>
          </a:p>
        </p:txBody>
      </p:sp>
    </p:spTree>
    <p:extLst>
      <p:ext uri="{BB962C8B-B14F-4D97-AF65-F5344CB8AC3E}">
        <p14:creationId xmlns:p14="http://schemas.microsoft.com/office/powerpoint/2010/main" val="18744171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BA6A8C-6464-44C3-803E-1B8FDA3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5A4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7fe57b7fb4265"/>
          <a:stretch xmlns:a="http://schemas.openxmlformats.org/drawingml/2006/main"/>
        </p:blipFill>
        <p:spPr>
          <a:xfrm xmlns:a="http://schemas.openxmlformats.org/drawingml/2006/main">
            <a:off x="9409113" y="438150"/>
            <a:ext cx="1879600" cy="704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095F1-3008-41A0-BCF5-F2A5788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AF37"/>
                </a:solidFill>
              </a:defRPr>
            </a:pPr>
            <a:r>
              <a:rPr sz="1050" b="1">
                <a:solidFill>
                  <a:srgbClr val="D4AF37"/>
                </a:solidFill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714DD-77A5-40CE-8351-AFD73EE4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El MEN pide el aprendizaje,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no el formato.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0A6D3-68C7-49DD-91DA-91CB899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4AF37"/>
                </a:solidFill>
              </a:defRPr>
            </a:pPr>
            <a:r>
              <a:rPr sz="2025" b="1">
                <a:solidFill>
                  <a:srgbClr val="D4AF37"/>
                </a:solidFill>
              </a:rPr>
              <a:t>La coherencia no se exige — se diseña.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3C173-DAC7-4BFB-B7E4-AC4FE1C9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871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46F91-26EB-4465-B00B-751D3344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Planear una vez.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Entregar los tres formatos.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Enseñar más.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ABDEC-8416-4873-A256-E52B6C32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E2EC"/>
                </a:solidFill>
              </a:defRPr>
            </a:pPr>
            <a:r>
              <a:rPr sz="825" b="1">
                <a:solidFill>
                  <a:srgbClr val="D9E2EC"/>
                </a:solidFill>
              </a:rPr>
              <a:t>MENOS DESGASTE ADMINISTRATIVO. MÁS TIEMPO PARA ENSEÑAR.</a:t>
            </a:r>
          </a:p>
        </p:txBody>
      </p:sp>
    </p:spTree>
    <p:extLst>
      <p:ext uri="{BB962C8B-B14F-4D97-AF65-F5344CB8AC3E}">
        <p14:creationId xmlns:p14="http://schemas.microsoft.com/office/powerpoint/2010/main" val="2080494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tenea Grupo Educativo">
      <a:majorFont>
        <a:latin typeface="Merriweather"/>
        <a:ea typeface="Calibri Light"/>
        <a:cs typeface="Calibri Light"/>
      </a:majorFont>
      <a:minorFont>
        <a:latin typeface="Inter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2026-07-19T12:35:23.7710000Z</dcterms:created>
  <dcterms:modified xsi:type="dcterms:W3CDTF">2026-07-19T12:35:23.7710000Z</dcterms:modified>
</coreProperties>
</file>