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d20286beb4060" /><Relationship Type="http://schemas.openxmlformats.org/officeDocument/2006/relationships/extended-properties" Target="/docProps/app.xml" Id="Ra89e170eed614201" /><Relationship Type="http://schemas.openxmlformats.org/officeDocument/2006/relationships/officeDocument" Target="/ppt/presentation.xml" Id="R108b785e514842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a7c4f6f7846ec"/>
  </p:sldMasterIdLst>
  <p:notesMasterIdLst>
    <p:notesMasterId xmlns:r="http://schemas.openxmlformats.org/officeDocument/2006/relationships" r:id="R9406ba8b59b14cc5"/>
  </p:notesMasterIdLst>
  <p:sldIdLst>
    <p:sldId xmlns:r="http://schemas.openxmlformats.org/officeDocument/2006/relationships" id="256" r:id="R8685da366ccf4b2d"/>
    <p:sldId xmlns:r="http://schemas.openxmlformats.org/officeDocument/2006/relationships" id="257" r:id="R11a21348483145cb"/>
    <p:sldId xmlns:r="http://schemas.openxmlformats.org/officeDocument/2006/relationships" id="258" r:id="R167bd2302ea54367"/>
    <p:sldId xmlns:r="http://schemas.openxmlformats.org/officeDocument/2006/relationships" id="259" r:id="R569edcf46371497a"/>
    <p:sldId xmlns:r="http://schemas.openxmlformats.org/officeDocument/2006/relationships" id="260" r:id="R21ba8ea638c44a0f"/>
    <p:sldId xmlns:r="http://schemas.openxmlformats.org/officeDocument/2006/relationships" id="261" r:id="R0de2454162f24e21"/>
    <p:sldId xmlns:r="http://schemas.openxmlformats.org/officeDocument/2006/relationships" id="262" r:id="Rbba49aa4744e4df6"/>
    <p:sldId xmlns:r="http://schemas.openxmlformats.org/officeDocument/2006/relationships" id="263" r:id="Rf590537d71304773"/>
    <p:sldId xmlns:r="http://schemas.openxmlformats.org/officeDocument/2006/relationships" id="264" r:id="R0556c5418be9465f"/>
    <p:sldId xmlns:r="http://schemas.openxmlformats.org/officeDocument/2006/relationships" id="265" r:id="R19ce3c4f0d0944a6"/>
    <p:sldId xmlns:r="http://schemas.openxmlformats.org/officeDocument/2006/relationships" id="266" r:id="R520051f966c440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72cf52fba540fd" /><Relationship Type="http://schemas.openxmlformats.org/officeDocument/2006/relationships/slideMaster" Target="/ppt/slideMasters/slideMaster1.xml" Id="Rc08a7c4f6f7846ec" /><Relationship Type="http://schemas.openxmlformats.org/officeDocument/2006/relationships/notesMaster" Target="/ppt/notesMasters/notesMaster1.xml" Id="R9406ba8b59b14cc5" /><Relationship Type="http://schemas.openxmlformats.org/officeDocument/2006/relationships/presProps" Target="/ppt/presProps.xml" Id="R17bc371125df49a8" /><Relationship Type="http://schemas.openxmlformats.org/officeDocument/2006/relationships/tableStyles" Target="/ppt/tableStyles.xml" Id="R0e1f7afe796e4629" /><Relationship Type="http://schemas.openxmlformats.org/officeDocument/2006/relationships/slide" Target="/ppt/slides/slide1.xml" Id="R8685da366ccf4b2d" /><Relationship Type="http://schemas.openxmlformats.org/officeDocument/2006/relationships/slide" Target="/ppt/slides/slide2.xml" Id="R11a21348483145cb" /><Relationship Type="http://schemas.openxmlformats.org/officeDocument/2006/relationships/slide" Target="/ppt/slides/slide3.xml" Id="R167bd2302ea54367" /><Relationship Type="http://schemas.openxmlformats.org/officeDocument/2006/relationships/slide" Target="/ppt/slides/slide4.xml" Id="R569edcf46371497a" /><Relationship Type="http://schemas.openxmlformats.org/officeDocument/2006/relationships/slide" Target="/ppt/slides/slide5.xml" Id="R21ba8ea638c44a0f" /><Relationship Type="http://schemas.openxmlformats.org/officeDocument/2006/relationships/slide" Target="/ppt/slides/slide6.xml" Id="R0de2454162f24e21" /><Relationship Type="http://schemas.openxmlformats.org/officeDocument/2006/relationships/slide" Target="/ppt/slides/slide7.xml" Id="Rbba49aa4744e4df6" /><Relationship Type="http://schemas.openxmlformats.org/officeDocument/2006/relationships/slide" Target="/ppt/slides/slide8.xml" Id="Rf590537d71304773" /><Relationship Type="http://schemas.openxmlformats.org/officeDocument/2006/relationships/slide" Target="/ppt/slides/slide9.xml" Id="R0556c5418be9465f" /><Relationship Type="http://schemas.openxmlformats.org/officeDocument/2006/relationships/slide" Target="/ppt/slides/slide10.xml" Id="R19ce3c4f0d0944a6" /><Relationship Type="http://schemas.openxmlformats.org/officeDocument/2006/relationships/slide" Target="/ppt/slides/slide11.xml" Id="R520051f966c440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57325c06ab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tenea Grupo Educativo">
      <a:majorFont>
        <a:latin typeface="Merriweather"/>
        <a:ea typeface="Calibri Light"/>
        <a:cs typeface="Calibri Light"/>
      </a:majorFont>
      <a:minorFont>
        <a:latin typeface="Inter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78f3a768444ef" /><Relationship Type="http://schemas.openxmlformats.org/officeDocument/2006/relationships/notesMaster" Target="/ppt/notesMasters/notesMaster1.xml" Id="R02780b31ab3b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a15d9df67e4b98" /><Relationship Type="http://schemas.openxmlformats.org/officeDocument/2006/relationships/notesMaster" Target="/ppt/notesMasters/notesMaster1.xml" Id="Rcfef0d22499248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f9cddcf0bb402f" /><Relationship Type="http://schemas.openxmlformats.org/officeDocument/2006/relationships/notesMaster" Target="/ppt/notesMasters/notesMaster1.xml" Id="R85c6342df69e49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bd2902238e45e1" /><Relationship Type="http://schemas.openxmlformats.org/officeDocument/2006/relationships/notesMaster" Target="/ppt/notesMasters/notesMaster1.xml" Id="Ref772956b4e348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f8591364ef4fc6" /><Relationship Type="http://schemas.openxmlformats.org/officeDocument/2006/relationships/notesMaster" Target="/ppt/notesMasters/notesMaster1.xml" Id="Rcc9a93c4d8f14c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141c3b057c4a66" /><Relationship Type="http://schemas.openxmlformats.org/officeDocument/2006/relationships/notesMaster" Target="/ppt/notesMasters/notesMaster1.xml" Id="R42b07f44e25f4f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b3be352dd34cf2" /><Relationship Type="http://schemas.openxmlformats.org/officeDocument/2006/relationships/notesMaster" Target="/ppt/notesMasters/notesMaster1.xml" Id="Rcab838490c6343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4cf3ec7753438c" /><Relationship Type="http://schemas.openxmlformats.org/officeDocument/2006/relationships/notesMaster" Target="/ppt/notesMasters/notesMaster1.xml" Id="R7e68dc4132e44b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b13bb1fcd9452b" /><Relationship Type="http://schemas.openxmlformats.org/officeDocument/2006/relationships/notesMaster" Target="/ppt/notesMasters/notesMaster1.xml" Id="R94583e569d554a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3367a64d2e4478" /><Relationship Type="http://schemas.openxmlformats.org/officeDocument/2006/relationships/notesMaster" Target="/ppt/notesMasters/notesMaster1.xml" Id="R06e5a382bf014f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9dd8520a004a01" /><Relationship Type="http://schemas.openxmlformats.org/officeDocument/2006/relationships/notesMaster" Target="/ppt/notesMasters/notesMaster1.xml" Id="Rd849b346666440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fec7f14e342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ed6847568f4224" /><Relationship Type="http://schemas.openxmlformats.org/officeDocument/2006/relationships/slideLayout" Target="/ppt/slideLayouts/slideLayout1.xml" Id="R462e7ab0555041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2e7ab0555041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tenea Grupo Educativo">
      <a:majorFont>
        <a:latin typeface="Merriweather"/>
        <a:ea typeface="Calibri Light"/>
        <a:cs typeface="Calibri Light"/>
      </a:majorFont>
      <a:minorFont>
        <a:latin typeface="Inter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060e10ca44953" /><Relationship Type="http://schemas.openxmlformats.org/officeDocument/2006/relationships/image" Target="/ppt/media/image.png" Id="R47eed42721f7454c" /><Relationship Type="http://schemas.openxmlformats.org/officeDocument/2006/relationships/notesSlide" Target="/ppt/notesSlides/notesSlide1.xml" Id="R92ece8a5127b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70a0cd9af4f46" /><Relationship Type="http://schemas.openxmlformats.org/officeDocument/2006/relationships/image" Target="/ppt/media/image2.png" Id="R1da62114ebea42dd" /><Relationship Type="http://schemas.openxmlformats.org/officeDocument/2006/relationships/notesSlide" Target="/ppt/notesSlides/notesSlide2.xml" Id="R6fd902691ab740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40aa3acdc4bcf" /><Relationship Type="http://schemas.openxmlformats.org/officeDocument/2006/relationships/image" Target="/ppt/media/image3.png" Id="Ra75c4bca24bd4ba3" /><Relationship Type="http://schemas.openxmlformats.org/officeDocument/2006/relationships/notesSlide" Target="/ppt/notesSlides/notesSlide3.xml" Id="R8187bac11a81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6f33b5cc148bd" /><Relationship Type="http://schemas.openxmlformats.org/officeDocument/2006/relationships/image" Target="/ppt/media/image4.png" Id="R011beee709d44b96" /><Relationship Type="http://schemas.openxmlformats.org/officeDocument/2006/relationships/notesSlide" Target="/ppt/notesSlides/notesSlide4.xml" Id="R5b275fd66eb44c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594cbf2e14628" /><Relationship Type="http://schemas.openxmlformats.org/officeDocument/2006/relationships/image" Target="/ppt/media/image5.png" Id="R5d743a35836d47ef" /><Relationship Type="http://schemas.openxmlformats.org/officeDocument/2006/relationships/notesSlide" Target="/ppt/notesSlides/notesSlide5.xml" Id="Rac060263d0344f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c0eff5f5b4557" /><Relationship Type="http://schemas.openxmlformats.org/officeDocument/2006/relationships/image" Target="/ppt/media/image6.png" Id="R3e4a937d0b6f48ba" /><Relationship Type="http://schemas.openxmlformats.org/officeDocument/2006/relationships/notesSlide" Target="/ppt/notesSlides/notesSlide6.xml" Id="Rc13f8496545f4f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1f44fefa94631" /><Relationship Type="http://schemas.openxmlformats.org/officeDocument/2006/relationships/image" Target="/ppt/media/image7.png" Id="R7ae901bff01446ec" /><Relationship Type="http://schemas.openxmlformats.org/officeDocument/2006/relationships/notesSlide" Target="/ppt/notesSlides/notesSlide7.xml" Id="Rb8eaf9d897964a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a3d82c3bc4fca" /><Relationship Type="http://schemas.openxmlformats.org/officeDocument/2006/relationships/image" Target="/ppt/media/image8.png" Id="Rfe864697f1fb49fb" /><Relationship Type="http://schemas.openxmlformats.org/officeDocument/2006/relationships/notesSlide" Target="/ppt/notesSlides/notesSlide8.xml" Id="R5b2d92ffadaf4a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2c5a0de484451" /><Relationship Type="http://schemas.openxmlformats.org/officeDocument/2006/relationships/image" Target="/ppt/media/image9.png" Id="R9412cb859b9745e8" /><Relationship Type="http://schemas.openxmlformats.org/officeDocument/2006/relationships/notesSlide" Target="/ppt/notesSlides/notesSlide9.xml" Id="Re68ef5e6f5ae4c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a25e0ac684543" /><Relationship Type="http://schemas.openxmlformats.org/officeDocument/2006/relationships/image" Target="/ppt/media/image10.png" Id="R3823436c95274ad2" /><Relationship Type="http://schemas.openxmlformats.org/officeDocument/2006/relationships/notesSlide" Target="/ppt/notesSlides/notesSlide10.xml" Id="R494b8dbbfe8045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d6f2456384fe4" /><Relationship Type="http://schemas.openxmlformats.org/officeDocument/2006/relationships/image" Target="/ppt/media/image11.png" Id="R64b2f88cb4654ed9" /><Relationship Type="http://schemas.openxmlformats.org/officeDocument/2006/relationships/notesSlide" Target="/ppt/notesSlides/notesSlide11.xml" Id="R8d2f6fcbd33e43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880D2-E800-4B99-9E7E-ADB0FD66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50ADF-B612-49A3-B5D7-F07A6A87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95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46626-4564-4467-B142-DCDED5CF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95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65CC5-F7F1-4AF8-A084-AF13B582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ed42721f7454c"/>
          <a:stretch xmlns:a="http://schemas.openxmlformats.org/drawingml/2006/main"/>
        </p:blipFill>
        <p:spPr>
          <a:xfrm xmlns:a="http://schemas.openxmlformats.org/drawingml/2006/main">
            <a:off x="1403350" y="685800"/>
            <a:ext cx="2032000" cy="76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09161-378B-4DBE-AB2E-D9325F5F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AF37"/>
                </a:solidFill>
              </a:defRPr>
            </a:pPr>
            <a:r>
              <a:rPr sz="1200" b="1">
                <a:solidFill>
                  <a:srgbClr val="D4AF37"/>
                </a:solidFill>
              </a:rPr>
              <a:t>Presentación del Programa Analítico al CTE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C79B7-FF31-4EEA-A642-45C0A7D4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Presentación al CTE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B5D5F-0E26-406C-B7F2-4B239D08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10 láminas editables para presentar el programa analítico al colectivo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C6B02-934A-48BF-B2C4-D85D70CF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4AF37"/>
                </a:solidFill>
              </a:defRPr>
            </a:pPr>
            <a:r>
              <a:rPr sz="1275" b="1">
                <a:solidFill>
                  <a:srgbClr val="D4AF37"/>
                </a:solidFill>
              </a:rPr>
              <a:t>Kit Programa Analítico NEM · Con fundamento citado de la SEP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40A7B-C4C2-413C-9E11-6ACBF911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619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8C2AF-B9E5-455C-9EF7-183A36CC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57775"/>
            <a:ext cx="563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Menos desgaste administrativo. Más tiempo para enseñar.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AA2EA-FB28-4227-9F2F-597CEEB6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D8E1EC"/>
                </a:solidFill>
              </a:defRPr>
            </a:pPr>
            <a:r>
              <a:rPr sz="900">
                <a:solidFill>
                  <a:srgbClr val="D8E1EC"/>
                </a:solidFill>
              </a:rPr>
              <a:t>10 láminas · editable · Kit Programa Analítico NEM</a:t>
            </a:r>
          </a:p>
        </p:txBody>
      </p:sp>
    </p:spTree>
    <p:extLst>
      <p:ext uri="{BB962C8B-B14F-4D97-AF65-F5344CB8AC3E}">
        <p14:creationId xmlns:p14="http://schemas.microsoft.com/office/powerpoint/2010/main" val="1226123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1FBE4-49EA-413C-8100-A3D90881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5B0DA-7162-459F-B36C-018FCCEB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PROGRAMA ANALÍTICO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2FE5C-CB54-4010-9612-A64962C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Nuestro Programa Analítico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62114ebea42dd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262D8-287B-49E5-8A89-46DE6A77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01365-D629-491C-8327-40E75EB4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E107C-DB71-4950-9D05-0E1DF816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5CF24-158A-4913-957A-E72F2878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D8102-AF8D-4CA4-A6D7-4E8C0E9E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A365D"/>
                </a:solidFill>
              </a:defRPr>
            </a:pPr>
            <a:r>
              <a:rPr sz="2325" b="1">
                <a:solidFill>
                  <a:srgbClr val="1A365D"/>
                </a:solidFill>
              </a:rPr>
              <a:t>Ciclo escolar 20__-20__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8C4E1-1BE0-40D5-BF79-9E2D11B0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EA75E-C9DB-457D-AD67-A004A11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0C4DF-275C-4C8C-A6A9-8D90EDEE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Escuela 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E19AE-AEF7-47C2-902C-20A967E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52750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D2888-4039-4A40-96F5-7157EE01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527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059C4-020F-470A-8DC3-2693E852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Colectivo docente: ____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E1D6A-0E61-44BF-84C2-B6AD2463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9791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E3823-4BAF-4332-AE62-60C68EA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918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A365D"/>
                </a:solidFill>
              </a:defRPr>
            </a:pPr>
            <a:r>
              <a:rPr sz="1650" b="1">
                <a:solidFill>
                  <a:srgbClr val="1A365D"/>
                </a:solidFill>
              </a:rPr>
              <a:t>Construido con el método de los 3 planos del codiseño (Plan de Estudio 2022, SEP)</a:t>
            </a:r>
          </a:p>
        </p:txBody>
      </p:sp>
    </p:spTree>
    <p:extLst>
      <p:ext uri="{BB962C8B-B14F-4D97-AF65-F5344CB8AC3E}">
        <p14:creationId xmlns:p14="http://schemas.microsoft.com/office/powerpoint/2010/main" val="1999378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1DCA0-5D54-447C-9DA0-0221BC84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E511A-B5FE-4033-AF67-EA0E5F26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PUNTO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A3B3B-52BF-4175-A526-D81F141F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Qué presentamos hoy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c4bca24bd4ba3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BB508-19D8-4901-9A8D-A5E814C8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8F1D7-0256-4C29-BEF4-0A32A507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FCF81-96B3-4855-B98E-E91D5FB6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3294E-5BC5-4A52-9A8E-7169104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363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17E6C-A32C-4BC0-8F9B-C832DDF3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24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4AF37"/>
                </a:solidFill>
              </a:defRPr>
            </a:pPr>
            <a:r>
              <a:rPr sz="2025" b="1">
                <a:solidFill>
                  <a:srgbClr val="D4AF37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079B5-0450-44D9-A1C6-B12BD1C5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8597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247"/>
                </a:solidFill>
              </a:defRPr>
            </a:pPr>
            <a:r>
              <a:rPr sz="1800" b="0">
                <a:solidFill>
                  <a:srgbClr val="243247"/>
                </a:solidFill>
              </a:rPr>
              <a:t>El programa analítico es del COLECTIVO — no un formato individual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290D0-CD4F-4B79-9A7B-C4B61411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0363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65448-F382-49B5-A037-B6068E96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813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4AF37"/>
                </a:solidFill>
              </a:defRPr>
            </a:pPr>
            <a:r>
              <a:rPr sz="2025" b="1">
                <a:solidFill>
                  <a:srgbClr val="D4AF37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7ED88-6F08-40B1-858B-503140D4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4327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247"/>
                </a:solidFill>
              </a:defRPr>
            </a:pPr>
            <a:r>
              <a:rPr sz="1800" b="0">
                <a:solidFill>
                  <a:srgbClr val="243247"/>
                </a:solidFill>
              </a:rPr>
              <a:t>Es un instrumento vivo: se construye y reconstruye (así lo define la SEP)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52E9F-8A75-40EF-9023-94570F3F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0363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9525">
            <a:solidFill>
              <a:srgbClr val="E05A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DA445-3CCF-4AFB-AB81-A1B88DFF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386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05A47"/>
                </a:solidFill>
              </a:defRPr>
            </a:pPr>
            <a:r>
              <a:rPr sz="2025" b="1">
                <a:solidFill>
                  <a:srgbClr val="E05A4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5DD31-C01F-4F1E-A4A0-C1BDD29C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0057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247"/>
                </a:solidFill>
              </a:defRPr>
            </a:pPr>
            <a:r>
              <a:rPr sz="1800" b="1">
                <a:solidFill>
                  <a:srgbClr val="243247"/>
                </a:solidFill>
              </a:rPr>
              <a:t>Hoy: nuestras decisiones y su evidencia, en 3 planos</a:t>
            </a:r>
          </a:p>
        </p:txBody>
      </p:sp>
    </p:spTree>
    <p:extLst>
      <p:ext uri="{BB962C8B-B14F-4D97-AF65-F5344CB8AC3E}">
        <p14:creationId xmlns:p14="http://schemas.microsoft.com/office/powerpoint/2010/main" val="662692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90E368-E5D9-4F71-A9B5-139A3EBA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41081-37C9-4B50-9C96-765557DA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04F13-035F-450C-8B83-DF1C15DB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Nuestra lectura de la realidad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beee709d44b96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E1D6-3872-4532-B691-9E35609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4AE51-F061-43FC-8218-D2978745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1C285-19BA-4F79-BD6A-DD658562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05EDB-45FF-4A72-94F1-FC883C88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9E420-8E05-41D5-9FE8-7F9C55B0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AD2B2-D539-4DF6-B201-45C6C2B6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383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Contexto de la comunidad: 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ACFD1-9F4A-4A1A-9E7F-286FBC5C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267F6-5C37-44C5-A698-0CCE6D92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AAAC8-9031-4FF7-ACAC-79D4752D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Diagnóstico de aprendizajes: 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9E08F-07FA-411A-95FD-898364F0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40745-BB8E-4316-9BF7-00F52EEC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545EC-F661-4268-B12A-8EB5C28A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Intereses del alumnado (instrumento aplicado): 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04F71-6CE9-4E9A-8FAB-97805962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63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4EDD8-3D9E-49D0-B41A-FA1C7236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24475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PLANO 1 · Nuestra lectura de la realidad</a:t>
            </a:r>
          </a:p>
        </p:txBody>
      </p:sp>
    </p:spTree>
    <p:extLst>
      <p:ext uri="{BB962C8B-B14F-4D97-AF65-F5344CB8AC3E}">
        <p14:creationId xmlns:p14="http://schemas.microsoft.com/office/powerpoint/2010/main" val="350418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5C550-F95B-4C28-89AF-EC7F1914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E3AD4-CEE0-44B5-B3CA-C961C61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EE2E7-6CAF-40BE-A2EE-9D84E9C6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Los retos que decidimos atender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43a35836d47ef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0E3C7-AF3D-42FF-B675-3DA71178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C04E8-1707-4B4E-AD9B-F89AD9D0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7D79A-1CD4-43CA-AE7D-3F88337B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4B21F-9CB5-444D-B05A-257B9B34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A5C27-4B21-479C-9EE6-4D42B8A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F3161-DA61-431E-B762-123F42AD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81200"/>
            <a:ext cx="904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621BC-2DB0-400B-AB2B-881AD05B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05025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B7280"/>
                </a:solidFill>
              </a:defRPr>
            </a:pPr>
            <a:r>
              <a:rPr sz="1875">
                <a:solidFill>
                  <a:srgbClr val="6B7280"/>
                </a:solidFill>
              </a:rPr>
              <a:t>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3E528-1426-4C2C-A117-A6536CB8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450F3-6BBA-41B3-88F9-3C9DC2E1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CB284-050D-48C7-BE9B-DDB56C07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28950"/>
            <a:ext cx="904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C1908-87C8-4680-88C5-88555DFD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52775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B7280"/>
                </a:solidFill>
              </a:defRPr>
            </a:pPr>
            <a:r>
              <a:rPr sz="1875">
                <a:solidFill>
                  <a:srgbClr val="6B7280"/>
                </a:solidFill>
              </a:rPr>
              <a:t>____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C5861-B959-4C5F-9CE6-4661C5CD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7CE63-E012-46FA-81EB-15911784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A1B99-9289-4C3B-9051-4217629C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76700"/>
            <a:ext cx="904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A79FC-E9E7-4AA5-AD27-EAD6AB4F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00525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B7280"/>
                </a:solidFill>
              </a:defRPr>
            </a:pPr>
            <a:r>
              <a:rPr sz="1875">
                <a:solidFill>
                  <a:srgbClr val="6B7280"/>
                </a:solidFill>
              </a:rPr>
              <a:t>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12FF9-7EAC-4A0D-8E95-2227198E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904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FA025-2DD7-4032-8442-F34DD2D6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81625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Cada reto cita un dato del diagnóstico — no son genéricos</a:t>
            </a:r>
          </a:p>
        </p:txBody>
      </p:sp>
    </p:spTree>
    <p:extLst>
      <p:ext uri="{BB962C8B-B14F-4D97-AF65-F5344CB8AC3E}">
        <p14:creationId xmlns:p14="http://schemas.microsoft.com/office/powerpoint/2010/main" val="1307525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70E359-8A7D-4E37-9E10-719C1922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2771B-A212-4AEC-9A98-D825E51F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84425-5034-4B6C-91D4-4562217B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Cómo decidimos sobre los contenidos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a937d0b6f48ba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55BED-7C1E-49A0-83B5-9F926EBC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43DE6-B941-4C8E-A877-DAD5826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FCACA-69D5-4DB6-922C-526FDEDF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8B57A-8DA2-4EC6-A0E8-D26D48A2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247"/>
                </a:solidFill>
              </a:defRPr>
            </a:pPr>
            <a:r>
              <a:rPr sz="1800">
                <a:solidFill>
                  <a:srgbClr val="243247"/>
                </a:solidFill>
              </a:rPr>
              <a:t>La decisión trinaria sobre cada contenido nacional: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882DC-75B1-487A-BF2F-F49245F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124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8E633-1699-4CB3-ACE0-0BEFD811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2097A-DD4B-492B-B5C8-7F2C6264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 MANTIENE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6F4D3-EAF0-4C38-9164-3F3959E8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3124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94985-1501-48C4-96EE-4E84B235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6E0EE-B92E-4B22-BECC-90E73C10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 CONTEXTUALIZA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E8E1B-6A75-4ABC-80F7-13511A33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124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2451E-225C-4A4F-8A47-E4E0782C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F93E3-ECE8-44CD-BE4C-0CD328CB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766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 INCORPORA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913E8-F623-4071-A336-6A04E14A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982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EB41F-9148-4327-ADD1-53C58C47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Fuente: contenidos y PDA citados del Programa Sintético (fases 3-4)</a:t>
            </a:r>
          </a:p>
        </p:txBody>
      </p:sp>
    </p:spTree>
    <p:extLst>
      <p:ext uri="{BB962C8B-B14F-4D97-AF65-F5344CB8AC3E}">
        <p14:creationId xmlns:p14="http://schemas.microsoft.com/office/powerpoint/2010/main" val="6147855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B6C87-7B6A-4F92-B795-25AE00A8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0E4A7-4DD2-4CE9-9E5C-9B9DAE48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EAFF7-CAA9-44DB-91C4-B0B4ADF8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Ejemplos de nuestras decisiones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901bff01446ec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6EA62-3B9A-4AF6-A4CD-C124F6D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76C97-9459-48FD-AF3D-5F23F1D1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DEA50-2948-4E06-89F9-5B015245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914400" y="1962150"/>
          <a:ext xmlns:a="http://schemas.openxmlformats.org/drawingml/2006/main" cx="103632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857500"/>
                <a:gridCol w="3219450"/>
              </a:tblGrid>
              <a:tr h="81438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Contenido</a:t>
                      </a:r>
                    </a:p>
                  </a:txBody>
                  <a:tcPr marL="91440" marR="91440" marT="45720" marB="45720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Decisión</a:t>
                      </a:r>
                    </a:p>
                  </a:txBody>
                  <a:tcPr marL="91440" marR="91440" marT="45720" marB="45720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Evidencia</a:t>
                      </a:r>
                    </a:p>
                  </a:txBody>
                  <a:tcPr marL="91440" marR="91440" marT="45720" marB="45720">
                    <a:solidFill>
                      <a:srgbClr val="1A365D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F9A0B8-05C3-4F44-9EB4-4A6B11A8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9AACC-3C3B-4E5E-AB7E-F9D6EE5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BABE9-E593-4578-9505-E42F7A34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Contenidos que INCORPORAMOS de nuestra realidad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64697f1fb49fb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A4F04-A784-4C22-AE17-66206C4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DBE32-0816-4721-B4C9-E75578C2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2C2FE-52F7-44AE-A0D6-B8A06554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30B82-4B0E-44EE-BA85-D9983CC2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0363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B85C5-85E4-4F2C-8BE1-B4343863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38400"/>
            <a:ext cx="960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247"/>
                </a:solidFill>
              </a:defRPr>
            </a:pPr>
            <a:r>
              <a:rPr sz="2025">
                <a:solidFill>
                  <a:srgbClr val="243247"/>
                </a:solidFill>
              </a:rPr>
              <a:t>____ (responde a: ____)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E3E30-93A2-4D19-9C91-06C5BFEB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363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CA927-4AEF-44DE-AE4B-F954AF3E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9550"/>
            <a:ext cx="960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247"/>
                </a:solidFill>
              </a:defRPr>
            </a:pPr>
            <a:r>
              <a:rPr sz="2025">
                <a:solidFill>
                  <a:srgbClr val="243247"/>
                </a:solidFill>
              </a:rPr>
              <a:t>____ (responde a: ____)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987B0-2613-471E-B3AD-38FE154A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14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24810-9B25-450C-BB29-08E3135A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14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5635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FBE4C7-0336-4ED9-82D3-1A4EC31D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B5483-AC0B-491E-A4ED-1454E645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3FC4A-4C3D-487F-8F80-B95BFBB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Secuenciación y metodologías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2cb859b9745e8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E4891-1EC3-4AE2-913F-84F1617E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00E8A-D4D7-4E7F-AD63-D72F9ECB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E20CD-08C6-4891-AD4F-E1FDF3B3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A804B-EF63-43ED-8059-EBD6C9B9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591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202AB-13A8-4A99-AB71-ADB378E0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57425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Trimestre 1: ____ · Trimestre 2: ____ · Trimestre 3: 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3A4C6-9AD3-403C-AE80-EC1D3A9A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0591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DD77F-D0FA-47F5-A76D-2B41C757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A9CE4-9925-405F-A49F-69BE05B4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1013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Metodologías generales: 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9E26A-2E25-4297-89AC-8890420A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59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058BC-61C8-4B51-AC2D-EDCA4518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96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05A47"/>
                </a:solidFill>
              </a:defRPr>
            </a:pPr>
            <a:r>
              <a:rPr sz="1575" b="1">
                <a:solidFill>
                  <a:srgbClr val="E05A47"/>
                </a:solidFill>
              </a:rPr>
              <a:t>(Recordatorio: el Programa Sintético no trae secuencia — la definimos nosotros)</a:t>
            </a:r>
          </a:p>
        </p:txBody>
      </p:sp>
    </p:spTree>
    <p:extLst>
      <p:ext uri="{BB962C8B-B14F-4D97-AF65-F5344CB8AC3E}">
        <p14:creationId xmlns:p14="http://schemas.microsoft.com/office/powerpoint/2010/main" val="7752460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D72FA3-7F63-47A6-B332-CD52690F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B918D-A9AF-4839-A852-3075309A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23BC1-3437-48D8-989D-58FD1A69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Ejes articuladores que activamos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3436c95274ad2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78D18-5302-4031-873A-AD5CF04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953FC-0F4D-48A3-81A8-CDC528A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1A4CD-A66E-4169-A6E6-FE411303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C4EAD-F130-42F1-BE27-6DA2A51C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09AFF-A68B-4FCC-B197-1F520B2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0B1F8-25EC-4B5F-806A-257DFB08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Eje ____ → opera en: 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18AAF-EA91-4A5D-9DA5-E6740B9E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7B7A3-2592-48E6-B7BD-DCCD66A2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C80A0-5686-4076-A346-75FAC948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Eje ____ → opera en: 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F4A1E-74BB-4ED8-92A6-106432BD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62500"/>
            <a:ext cx="8458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53BD2-0E69-4FCB-83B7-5D88DA33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19675"/>
            <a:ext cx="777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(Mejor 3 ejes operando que 7 decorando)</a:t>
            </a:r>
          </a:p>
        </p:txBody>
      </p:sp>
    </p:spTree>
    <p:extLst>
      <p:ext uri="{BB962C8B-B14F-4D97-AF65-F5344CB8AC3E}">
        <p14:creationId xmlns:p14="http://schemas.microsoft.com/office/powerpoint/2010/main" val="5187592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44843-14AF-40D3-8B06-42A031F6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29FBD-6A30-404B-B2B4-18041D6F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SEGUIMIENTO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C1E4D-C54C-4987-830A-5B58D5B0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Un instrumento vivo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2f88cb4654ed9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CE627-1B0A-4339-8121-19BA0431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D2AC0-0F18-4FCA-A65B-58A99690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DB791-06DD-4F58-A252-BDF9AE72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90E04-EE5D-4A3B-8A64-C12282A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D130A-8F55-4BE9-BCC2-C000137D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860EB-DC67-4160-8EE0-FDFEEE84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Fechas de revisión en CTE: ____ y 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E753F-19B8-44A8-AB07-683CC1A7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0363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26AD7-08DE-4C20-92AB-803309A9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975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Cómo registraremos lo aprendido: rutina "Antes pensaba / Ahora pienso"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7C36F-3F84-4E73-AE11-C54CA245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0363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FA23F-36CC-4EE8-8414-37F3E112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95825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365D"/>
                </a:solidFill>
              </a:defRPr>
            </a:pPr>
            <a:r>
              <a:rPr sz="1725" b="1">
                <a:solidFill>
                  <a:srgbClr val="1A365D"/>
                </a:solidFill>
              </a:rPr>
              <a:t>Autoevaluación: lista de cotejo y rúbrica del colectivo</a:t>
            </a:r>
          </a:p>
        </p:txBody>
      </p:sp>
    </p:spTree>
    <p:extLst>
      <p:ext uri="{BB962C8B-B14F-4D97-AF65-F5344CB8AC3E}">
        <p14:creationId xmlns:p14="http://schemas.microsoft.com/office/powerpoint/2010/main" val="1988349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tenea Grupo Educativo">
      <a:majorFont>
        <a:latin typeface="Merriweather"/>
        <a:ea typeface="Calibri Light"/>
        <a:cs typeface="Calibri Light"/>
      </a:majorFont>
      <a:minorFont>
        <a:latin typeface="Inter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2026-07-18T15:07:29.6780000Z</dcterms:created>
  <dcterms:modified xsi:type="dcterms:W3CDTF">2026-07-18T15:07:29.6780000Z</dcterms:modified>
</coreProperties>
</file>